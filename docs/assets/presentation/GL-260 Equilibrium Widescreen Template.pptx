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8EB3-F71B-69B9-57F9-6E0108800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24D46-6AF2-3B82-5FFB-FEED6F84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C5683-0529-6C02-5B06-4176941C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69AA-F20E-D317-9587-BF30BF58D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83CAD-122F-80B1-6DAF-88F1B6CB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30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68C7C-F6E0-2CAC-36E8-752D37343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61E8D-5BE9-4F40-D629-384F0615F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3F40F-3BA9-FCFE-A439-ECDDF503C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514FE-E52E-6FBE-0457-504FD05B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F0D1B-DA2B-A714-F796-28F147D4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2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02CF-602A-070E-1A17-2B4217CC2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B9C57-AE0D-19E6-84B2-850CD7C5B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DF02B-98E4-58EA-4648-A7C62303C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93420-39BA-CB30-4AD5-DC5D4F39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F9AEC-767B-B6FF-D0C0-76892DA9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3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FCE7-7597-7BF7-F395-F4388D71B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CCCD0-4F08-137E-F5AC-B7E8418EE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A2C40-13E2-5F72-79E7-6228D7B2C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16B05-90E3-0DFF-F3B0-21FA14BA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440A1-2549-8A20-A304-07AA37F0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A0C3B-4FD3-12A5-4E56-19FB9E2A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0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B3F-D104-5A90-CEF7-2C8266188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55E6C-BF7B-67D7-7CDB-564A15CDB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18ABD-8C02-578E-9677-04159A832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CC91EC-6A00-9B33-2FD9-4EF248EDC5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BD9A3D-F1A1-304B-48BB-62971E47C9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8710F8-D667-AF97-49B4-55C58A3A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8DF6BF-B62E-62D5-C572-9DC6E5BA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76D80-79F8-4C82-CA12-1093DB83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9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D8FF-98C8-867B-3B2D-BA5BEC36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F52FBC-5F12-5BC0-35F8-FC300222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8D498-4BD9-A1DE-C3F5-471D078F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C80F-69E8-FE45-2FCF-A912FFE3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8E7A8-D42A-3EBA-7668-3E072522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83D42-ED01-E25C-C382-600BC3DEA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81BA0-1B3E-B4FD-A953-52DBA3E6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5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D7568-A4E3-CEB9-781F-AFD0811C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1CC9D-E7AE-2302-FDC3-FF576290B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CE771-709F-DCBF-6117-176D63107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D3A08-B0C9-B9AC-F07A-6E7B34370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9D526-8BEA-18C3-463D-FC90AA0B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5D9DB-BACF-1490-E8B1-EF894BDB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2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50149-AE09-1278-CB01-207C3E7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F82EE-308A-031A-BC40-949593EC7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75FF3-DE66-97DD-466F-A365B1F44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DDE8E-3061-494C-8BDD-B10049384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60DC9-3137-19D4-27AD-1DB2EBC2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9C6A3-BAF5-AC3F-1A35-C7DD29B2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5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E6C1-5BE1-31D8-6785-7B2D27C0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BA02E-FF22-3577-B756-DAED1F9A3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0180F-4975-20F0-A8AC-3FCF089C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8E253-9DB4-1E97-6CA2-6C18FE55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FE0F1-0B00-0154-3D9A-D9EB766D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1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9611C-1B7D-1215-14CF-8C482BE3B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16A56-FCE1-71BA-673D-2342A99F0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D53A5-B858-D986-4F38-04018064D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246B8-917A-DD51-3861-2AF5005C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DDF15-39EF-C11E-63C2-DEEFC221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2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86B63-DBDC-5F3F-8D5E-3E1F8145F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AF44F-225A-1A25-9AA9-84FEA46CB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9DAC1-6528-FB28-D04C-8CE036DEC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1826C-3A41-474E-AA12-5D0B113E895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3715E-172E-E41E-5DAA-E99756C49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C1AD9-6638-DFF2-0EFD-5FF91737F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6DB39-DB7C-4DCD-B4C1-29872A169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B8207E-1383-A58A-D71F-EFA54642F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9808F9-87F3-C9F6-21B9-0A16599B8C08}"/>
              </a:ext>
            </a:extLst>
          </p:cNvPr>
          <p:cNvSpPr txBox="1"/>
          <p:nvPr/>
        </p:nvSpPr>
        <p:spPr>
          <a:xfrm>
            <a:off x="711200" y="63881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9EB8CB"/>
                </a:solidFill>
                <a:latin typeface="Aptos" panose="020B0004020202020204" pitchFamily="34" charset="0"/>
              </a:rPr>
              <a:t>GL-260  /  EQUILIBRIUM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3CC27-9ABC-921D-A96E-C1464A63A30B}"/>
              </a:ext>
            </a:extLst>
          </p:cNvPr>
          <p:cNvSpPr txBox="1"/>
          <p:nvPr/>
        </p:nvSpPr>
        <p:spPr>
          <a:xfrm>
            <a:off x="10947400" y="63627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EB8C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239A62F-3B15-1D56-CF60-C214C0935287}"/>
              </a:ext>
            </a:extLst>
          </p:cNvPr>
          <p:cNvSpPr/>
          <p:nvPr/>
        </p:nvSpPr>
        <p:spPr>
          <a:xfrm>
            <a:off x="8255000" y="-2159000"/>
            <a:ext cx="5461000" cy="5461000"/>
          </a:xfrm>
          <a:prstGeom prst="ellipse">
            <a:avLst/>
          </a:prstGeom>
          <a:solidFill>
            <a:srgbClr val="35D0D7">
              <a:alpha val="1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6D81F4-6396-17A8-7062-813E5712DA15}"/>
              </a:ext>
            </a:extLst>
          </p:cNvPr>
          <p:cNvSpPr/>
          <p:nvPr/>
        </p:nvSpPr>
        <p:spPr>
          <a:xfrm>
            <a:off x="8890000" y="1219200"/>
            <a:ext cx="2286000" cy="2286000"/>
          </a:xfrm>
          <a:prstGeom prst="ellipse">
            <a:avLst/>
          </a:prstGeom>
          <a:noFill/>
          <a:ln w="31750" cap="flat" cmpd="sng" algn="ctr">
            <a:solidFill>
              <a:srgbClr val="35D0D7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6CBF88-B665-E673-3C75-BD04E4AEFE78}"/>
              </a:ext>
            </a:extLst>
          </p:cNvPr>
          <p:cNvSpPr/>
          <p:nvPr/>
        </p:nvSpPr>
        <p:spPr>
          <a:xfrm>
            <a:off x="9499600" y="1828800"/>
            <a:ext cx="1066800" cy="1066800"/>
          </a:xfrm>
          <a:prstGeom prst="ellipse">
            <a:avLst/>
          </a:prstGeom>
          <a:noFill/>
          <a:ln w="50800" cap="flat" cmpd="sng" algn="ctr">
            <a:solidFill>
              <a:srgbClr val="D9922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3C6928-1127-78A9-C67C-18F8FB4C5BF3}"/>
              </a:ext>
            </a:extLst>
          </p:cNvPr>
          <p:cNvCxnSpPr/>
          <p:nvPr/>
        </p:nvCxnSpPr>
        <p:spPr>
          <a:xfrm>
            <a:off x="711200" y="711200"/>
            <a:ext cx="1193800" cy="0"/>
          </a:xfrm>
          <a:prstGeom prst="line">
            <a:avLst/>
          </a:prstGeom>
          <a:ln w="50800">
            <a:solidFill>
              <a:srgbClr val="35D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F18E443-427B-69C9-EDA5-C22BD8641B19}"/>
              </a:ext>
            </a:extLst>
          </p:cNvPr>
          <p:cNvSpPr txBox="1"/>
          <p:nvPr/>
        </p:nvSpPr>
        <p:spPr>
          <a:xfrm>
            <a:off x="711200" y="990600"/>
            <a:ext cx="635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5D0D7"/>
                </a:solidFill>
                <a:latin typeface="Aptos" panose="020B0004020202020204" pitchFamily="34" charset="0"/>
              </a:rPr>
              <a:t>GL-260 TECHNICAL 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E479F-50F7-CFEA-6432-DA9AABD88C7A}"/>
              </a:ext>
            </a:extLst>
          </p:cNvPr>
          <p:cNvSpPr txBox="1"/>
          <p:nvPr/>
        </p:nvSpPr>
        <p:spPr>
          <a:xfrm>
            <a:off x="711200" y="1879600"/>
            <a:ext cx="8255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F4FBFF"/>
                </a:solidFill>
                <a:latin typeface="Space Grotesk"/>
              </a:rPr>
              <a:t>Equilibrium and
Simulation Walkthrough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A022C-F5EE-DB59-0D34-DAFD3B57F970}"/>
              </a:ext>
            </a:extLst>
          </p:cNvPr>
          <p:cNvSpPr txBox="1"/>
          <p:nvPr/>
        </p:nvSpPr>
        <p:spPr>
          <a:xfrm>
            <a:off x="711200" y="4140200"/>
            <a:ext cx="7747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9EB8CB"/>
                </a:solidFill>
                <a:latin typeface="Aptos" panose="020B0004020202020204" pitchFamily="34" charset="0"/>
              </a:rPr>
              <a:t>A traceable path from NaOH basis setup to activity-corrected pH and bicarbonate formation.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F32AD8-09F9-AF6A-A636-0BC56693C3C9}"/>
              </a:ext>
            </a:extLst>
          </p:cNvPr>
          <p:cNvSpPr txBox="1"/>
          <p:nvPr/>
        </p:nvSpPr>
        <p:spPr>
          <a:xfrm>
            <a:off x="711200" y="5473700"/>
            <a:ext cx="774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4FBFF"/>
                </a:solidFill>
                <a:latin typeface="Aptos" panose="020B0004020202020204" pitchFamily="34" charset="0"/>
              </a:rPr>
              <a:t>700 g NaOH  ·  2,200 mL H₂O  ·  25 °C</a:t>
            </a:r>
          </a:p>
        </p:txBody>
      </p:sp>
    </p:spTree>
    <p:extLst>
      <p:ext uri="{BB962C8B-B14F-4D97-AF65-F5344CB8AC3E}">
        <p14:creationId xmlns:p14="http://schemas.microsoft.com/office/powerpoint/2010/main" val="1555154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441223-614E-BEEE-75AA-C6533D0067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572A9-C621-1693-B400-62A84922FD69}"/>
              </a:ext>
            </a:extLst>
          </p:cNvPr>
          <p:cNvSpPr txBox="1"/>
          <p:nvPr/>
        </p:nvSpPr>
        <p:spPr>
          <a:xfrm>
            <a:off x="711200" y="63881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9EB8CB"/>
                </a:solidFill>
                <a:latin typeface="Aptos" panose="020B0004020202020204" pitchFamily="34" charset="0"/>
              </a:rPr>
              <a:t>GL-260  /  EQUILIBRIUM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7D6CD2-F9C6-C8FA-E86B-4A615148C7AE}"/>
              </a:ext>
            </a:extLst>
          </p:cNvPr>
          <p:cNvSpPr txBox="1"/>
          <p:nvPr/>
        </p:nvSpPr>
        <p:spPr>
          <a:xfrm>
            <a:off x="10947400" y="63627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EB8C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D35CC-0517-A21A-A7A9-9A6107819323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9F767-A374-4BAD-A987-CA3AAC677261}"/>
              </a:ext>
            </a:extLst>
          </p:cNvPr>
          <p:cNvSpPr txBox="1"/>
          <p:nvPr/>
        </p:nvSpPr>
        <p:spPr>
          <a:xfrm>
            <a:off x="812800" y="914400"/>
            <a:ext cx="304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D0D7"/>
                </a:solidFill>
                <a:latin typeface="Aptos" panose="020B0004020202020204" pitchFamily="34" charset="0"/>
              </a:rPr>
              <a:t>SECTION 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654A3-D4E2-27DC-06CF-6A13C342A681}"/>
              </a:ext>
            </a:extLst>
          </p:cNvPr>
          <p:cNvSpPr txBox="1"/>
          <p:nvPr/>
        </p:nvSpPr>
        <p:spPr>
          <a:xfrm>
            <a:off x="812800" y="1905000"/>
            <a:ext cx="9144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800" b="1">
                <a:solidFill>
                  <a:srgbClr val="F4FBFF"/>
                </a:solidFill>
                <a:latin typeface="Space Grotesk"/>
              </a:rPr>
              <a:t>Equilibrium network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33955-F7AF-C0A8-300F-DB7964A61D80}"/>
              </a:ext>
            </a:extLst>
          </p:cNvPr>
          <p:cNvSpPr txBox="1"/>
          <p:nvPr/>
        </p:nvSpPr>
        <p:spPr>
          <a:xfrm>
            <a:off x="812800" y="3111500"/>
            <a:ext cx="9017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>
                <a:solidFill>
                  <a:srgbClr val="9EB8CB"/>
                </a:solidFill>
                <a:latin typeface="Aptos" panose="020B0004020202020204" pitchFamily="34" charset="0"/>
              </a:rPr>
              <a:t>How CO₂, bicarbonate, carbonate, hydroxide, and activity corrections resolve into one chemical state.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525A86-A240-E9F7-6CBB-54E3BF07A1D3}"/>
              </a:ext>
            </a:extLst>
          </p:cNvPr>
          <p:cNvCxnSpPr/>
          <p:nvPr/>
        </p:nvCxnSpPr>
        <p:spPr>
          <a:xfrm>
            <a:off x="812800" y="4724400"/>
            <a:ext cx="10566400" cy="0"/>
          </a:xfrm>
          <a:prstGeom prst="line">
            <a:avLst/>
          </a:prstGeom>
          <a:ln w="19050">
            <a:solidFill>
              <a:srgbClr val="35D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E545745-9C75-CDFC-0EBC-364A14704B2B}"/>
              </a:ext>
            </a:extLst>
          </p:cNvPr>
          <p:cNvSpPr txBox="1"/>
          <p:nvPr/>
        </p:nvSpPr>
        <p:spPr>
          <a:xfrm>
            <a:off x="812800" y="5054600"/>
            <a:ext cx="825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4FBFF"/>
                </a:solidFill>
                <a:latin typeface="Aptos" panose="020B0004020202020204" pitchFamily="34" charset="0"/>
              </a:rPr>
              <a:t>ONE SECTION  /  ONE DOMINANT IDEA  /  ONE TAKEAWAY</a:t>
            </a:r>
          </a:p>
        </p:txBody>
      </p:sp>
    </p:spTree>
    <p:extLst>
      <p:ext uri="{BB962C8B-B14F-4D97-AF65-F5344CB8AC3E}">
        <p14:creationId xmlns:p14="http://schemas.microsoft.com/office/powerpoint/2010/main" val="270804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1D0D43-2141-FA92-BB54-88E5660D87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069D0-0A38-1404-897E-BF6B52F594CE}"/>
              </a:ext>
            </a:extLst>
          </p:cNvPr>
          <p:cNvSpPr txBox="1"/>
          <p:nvPr/>
        </p:nvSpPr>
        <p:spPr>
          <a:xfrm>
            <a:off x="711200" y="63881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GL-260  /  EQUILIBRIUM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F8F75-1D45-89BE-FC59-90C13B75D3AE}"/>
              </a:ext>
            </a:extLst>
          </p:cNvPr>
          <p:cNvSpPr txBox="1"/>
          <p:nvPr/>
        </p:nvSpPr>
        <p:spPr>
          <a:xfrm>
            <a:off x="10947400" y="63627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4546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3B500A-E607-53DA-7CBA-FB1193AF5D4C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F5CC4-7048-1C88-C47D-50CC26FEAC8C}"/>
              </a:ext>
            </a:extLst>
          </p:cNvPr>
          <p:cNvSpPr txBox="1"/>
          <p:nvPr/>
        </p:nvSpPr>
        <p:spPr>
          <a:xfrm>
            <a:off x="711200" y="5334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9EAA"/>
                </a:solidFill>
                <a:latin typeface="Aptos" panose="020B0004020202020204" pitchFamily="34" charset="0"/>
              </a:rPr>
              <a:t>THE PROCESS 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AD2AF-15C3-FC52-106F-E5B8FE5A453B}"/>
              </a:ext>
            </a:extLst>
          </p:cNvPr>
          <p:cNvSpPr txBox="1"/>
          <p:nvPr/>
        </p:nvSpPr>
        <p:spPr>
          <a:xfrm>
            <a:off x="711200" y="939800"/>
            <a:ext cx="10033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02638"/>
                </a:solidFill>
                <a:latin typeface="Space Grotesk"/>
              </a:rPr>
              <a:t>Simple reaction. Coupled vessel.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6161B-2D49-5224-2A6C-1E690D577BCF}"/>
              </a:ext>
            </a:extLst>
          </p:cNvPr>
          <p:cNvSpPr txBox="1"/>
          <p:nvPr/>
        </p:nvSpPr>
        <p:spPr>
          <a:xfrm>
            <a:off x="711200" y="1600200"/>
            <a:ext cx="889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345468"/>
                </a:solidFill>
                <a:latin typeface="Aptos" panose="020B0004020202020204" pitchFamily="34" charset="0"/>
              </a:rPr>
              <a:t>Use this layout for three linked ideas without turning the slide into a card grid.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20BAEB-FA28-A01E-FBAB-85CF0DE14695}"/>
              </a:ext>
            </a:extLst>
          </p:cNvPr>
          <p:cNvCxnSpPr/>
          <p:nvPr/>
        </p:nvCxnSpPr>
        <p:spPr>
          <a:xfrm>
            <a:off x="711200" y="2298700"/>
            <a:ext cx="10769600" cy="0"/>
          </a:xfrm>
          <a:prstGeom prst="line">
            <a:avLst/>
          </a:prstGeom>
          <a:ln w="12700"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8165E9-20F4-14CA-D580-1B8537DE9BD7}"/>
              </a:ext>
            </a:extLst>
          </p:cNvPr>
          <p:cNvSpPr txBox="1"/>
          <p:nvPr/>
        </p:nvSpPr>
        <p:spPr>
          <a:xfrm>
            <a:off x="711200" y="2743200"/>
            <a:ext cx="533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5D0D7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33366F-B32F-5614-DDF3-01293F37DFB5}"/>
              </a:ext>
            </a:extLst>
          </p:cNvPr>
          <p:cNvSpPr txBox="1"/>
          <p:nvPr/>
        </p:nvSpPr>
        <p:spPr>
          <a:xfrm>
            <a:off x="711200" y="3175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02638"/>
                </a:solidFill>
                <a:latin typeface="Space Grotesk"/>
              </a:rPr>
              <a:t>Transfer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972547-3116-62F6-DBDA-E6007EBFF2D0}"/>
              </a:ext>
            </a:extLst>
          </p:cNvPr>
          <p:cNvSpPr txBox="1"/>
          <p:nvPr/>
        </p:nvSpPr>
        <p:spPr>
          <a:xfrm>
            <a:off x="711200" y="37084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345468"/>
                </a:solidFill>
                <a:latin typeface="Aptos" panose="020B0004020202020204" pitchFamily="34" charset="0"/>
              </a:rPr>
              <a:t>CO₂ must cross the gas-liquid boundary before equilibrium can respond.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A26C6A-1419-9BC0-D393-B120A5F82814}"/>
              </a:ext>
            </a:extLst>
          </p:cNvPr>
          <p:cNvCxnSpPr/>
          <p:nvPr/>
        </p:nvCxnSpPr>
        <p:spPr>
          <a:xfrm>
            <a:off x="3835400" y="2667000"/>
            <a:ext cx="0" cy="2476500"/>
          </a:xfrm>
          <a:prstGeom prst="line">
            <a:avLst/>
          </a:prstGeom>
          <a:ln w="12700"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72E3955-A813-C627-D69C-1225F9B8AC13}"/>
              </a:ext>
            </a:extLst>
          </p:cNvPr>
          <p:cNvSpPr txBox="1"/>
          <p:nvPr/>
        </p:nvSpPr>
        <p:spPr>
          <a:xfrm>
            <a:off x="4292600" y="2743200"/>
            <a:ext cx="533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35D0D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83BB07-2110-D5D8-4B19-E875B8228610}"/>
              </a:ext>
            </a:extLst>
          </p:cNvPr>
          <p:cNvSpPr txBox="1"/>
          <p:nvPr/>
        </p:nvSpPr>
        <p:spPr>
          <a:xfrm>
            <a:off x="4292600" y="3175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02638"/>
                </a:solidFill>
                <a:latin typeface="Space Grotesk"/>
              </a:rPr>
              <a:t>Speciation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401EEF-C8C7-4413-67CF-211153C38727}"/>
              </a:ext>
            </a:extLst>
          </p:cNvPr>
          <p:cNvSpPr txBox="1"/>
          <p:nvPr/>
        </p:nvSpPr>
        <p:spPr>
          <a:xfrm>
            <a:off x="4292600" y="37084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345468"/>
                </a:solidFill>
                <a:latin typeface="Aptos" panose="020B0004020202020204" pitchFamily="34" charset="0"/>
              </a:rPr>
              <a:t>pH moves carbon among dissolved CO₂, bicarbonate, and carbonate.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568037-C8B4-B2BE-A3D9-3070AB23CC39}"/>
              </a:ext>
            </a:extLst>
          </p:cNvPr>
          <p:cNvCxnSpPr/>
          <p:nvPr/>
        </p:nvCxnSpPr>
        <p:spPr>
          <a:xfrm>
            <a:off x="7416800" y="2667000"/>
            <a:ext cx="0" cy="2476500"/>
          </a:xfrm>
          <a:prstGeom prst="line">
            <a:avLst/>
          </a:prstGeom>
          <a:ln w="12700"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B64276-7F65-6CC3-9489-C184F12002E0}"/>
              </a:ext>
            </a:extLst>
          </p:cNvPr>
          <p:cNvSpPr txBox="1"/>
          <p:nvPr/>
        </p:nvSpPr>
        <p:spPr>
          <a:xfrm>
            <a:off x="7874000" y="2743200"/>
            <a:ext cx="533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D99221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E4B571-2F5F-967F-2AFB-E62DCFD20904}"/>
              </a:ext>
            </a:extLst>
          </p:cNvPr>
          <p:cNvSpPr txBox="1"/>
          <p:nvPr/>
        </p:nvSpPr>
        <p:spPr>
          <a:xfrm>
            <a:off x="7874000" y="3175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102638"/>
                </a:solidFill>
                <a:latin typeface="Space Grotesk"/>
              </a:rPr>
              <a:t>Evidence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6A2CCA-D1B6-EA4D-591B-D74BF8365203}"/>
              </a:ext>
            </a:extLst>
          </p:cNvPr>
          <p:cNvSpPr txBox="1"/>
          <p:nvPr/>
        </p:nvSpPr>
        <p:spPr>
          <a:xfrm>
            <a:off x="7874000" y="37084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345468"/>
                </a:solidFill>
                <a:latin typeface="Aptos" panose="020B0004020202020204" pitchFamily="34" charset="0"/>
              </a:rPr>
              <a:t>Charge balance and measured anchors keep the result defensible.</a:t>
            </a:r>
          </a:p>
        </p:txBody>
      </p:sp>
    </p:spTree>
    <p:extLst>
      <p:ext uri="{BB962C8B-B14F-4D97-AF65-F5344CB8AC3E}">
        <p14:creationId xmlns:p14="http://schemas.microsoft.com/office/powerpoint/2010/main" val="1486895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2BDDA2-B9AF-7F48-290F-61C9ABB9A3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57B6B9-5B67-06A7-2A7C-9B07F78EA159}"/>
              </a:ext>
            </a:extLst>
          </p:cNvPr>
          <p:cNvSpPr txBox="1"/>
          <p:nvPr/>
        </p:nvSpPr>
        <p:spPr>
          <a:xfrm>
            <a:off x="711200" y="63881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GL-260  /  EQUILIBRIUM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05D44-CB5B-A650-9359-4485891728D4}"/>
              </a:ext>
            </a:extLst>
          </p:cNvPr>
          <p:cNvSpPr txBox="1"/>
          <p:nvPr/>
        </p:nvSpPr>
        <p:spPr>
          <a:xfrm>
            <a:off x="10947400" y="63627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45468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160F5-0E9E-46B7-EA9D-DC5851DAA74F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DA218-AC25-9381-375C-B6B67A8B9810}"/>
              </a:ext>
            </a:extLst>
          </p:cNvPr>
          <p:cNvSpPr txBox="1"/>
          <p:nvPr/>
        </p:nvSpPr>
        <p:spPr>
          <a:xfrm>
            <a:off x="711200" y="5334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9EAA"/>
                </a:solidFill>
                <a:latin typeface="Aptos" panose="020B0004020202020204" pitchFamily="34" charset="0"/>
              </a:rPr>
              <a:t>DERIVATION / CALCULATION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0AD6BE-940E-83D1-84D6-CC3E4676E512}"/>
              </a:ext>
            </a:extLst>
          </p:cNvPr>
          <p:cNvSpPr txBox="1"/>
          <p:nvPr/>
        </p:nvSpPr>
        <p:spPr>
          <a:xfrm>
            <a:off x="711200" y="939800"/>
            <a:ext cx="10033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02638"/>
                </a:solidFill>
                <a:latin typeface="Space Grotesk"/>
              </a:rPr>
              <a:t>Make the governing relationship the visual anchor.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7D6886-20CF-50CE-37F6-910B029E3FBB}"/>
              </a:ext>
            </a:extLst>
          </p:cNvPr>
          <p:cNvSpPr/>
          <p:nvPr/>
        </p:nvSpPr>
        <p:spPr>
          <a:xfrm>
            <a:off x="1041400" y="2159000"/>
            <a:ext cx="10109200" cy="18034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1F195-AFB6-C03D-8919-BAD8F366F547}"/>
              </a:ext>
            </a:extLst>
          </p:cNvPr>
          <p:cNvSpPr txBox="1"/>
          <p:nvPr/>
        </p:nvSpPr>
        <p:spPr>
          <a:xfrm>
            <a:off x="1625600" y="2717800"/>
            <a:ext cx="901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>
                <a:solidFill>
                  <a:srgbClr val="102638"/>
                </a:solidFill>
                <a:latin typeface="Cambria Math" panose="02040503050406030204" pitchFamily="18" charset="0"/>
              </a:rPr>
              <a:t>R</a:t>
            </a:r>
            <a:r>
              <a:rPr lang="el-GR" sz="2300">
                <a:solidFill>
                  <a:srgbClr val="102638"/>
                </a:solidFill>
                <a:latin typeface="Cambria Math" panose="02040503050406030204" pitchFamily="18" charset="0"/>
              </a:rPr>
              <a:t>ᵩ = </a:t>
            </a:r>
            <a:r>
              <a:rPr lang="en-US" sz="2300">
                <a:solidFill>
                  <a:srgbClr val="102638"/>
                </a:solidFill>
                <a:latin typeface="Cambria Math" panose="02040503050406030204" pitchFamily="18" charset="0"/>
              </a:rPr>
              <a:t>mNa⁺ + mH⁺ − mOH⁻ − mHCO₃⁻ − 2mCO₃²⁻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8945FE-441E-2CD1-64D7-B5EFA5E16AA0}"/>
              </a:ext>
            </a:extLst>
          </p:cNvPr>
          <p:cNvSpPr txBox="1"/>
          <p:nvPr/>
        </p:nvSpPr>
        <p:spPr>
          <a:xfrm>
            <a:off x="1041400" y="44196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99221"/>
                </a:solidFill>
                <a:latin typeface="Aptos" panose="020B0004020202020204" pitchFamily="34" charset="0"/>
              </a:rPr>
              <a:t>ACCEPTANCE CONDITION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0CD5EA-0D25-2632-6378-3B27F31344B3}"/>
              </a:ext>
            </a:extLst>
          </p:cNvPr>
          <p:cNvSpPr txBox="1"/>
          <p:nvPr/>
        </p:nvSpPr>
        <p:spPr>
          <a:xfrm>
            <a:off x="1041400" y="4800600"/>
            <a:ext cx="952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345468"/>
                </a:solidFill>
                <a:latin typeface="Aptos" panose="020B0004020202020204" pitchFamily="34" charset="0"/>
              </a:rPr>
              <a:t>The accepted pH is the state where charge residual approaches zero and the species distribution remains physically consistent.</a:t>
            </a:r>
          </a:p>
        </p:txBody>
      </p:sp>
    </p:spTree>
    <p:extLst>
      <p:ext uri="{BB962C8B-B14F-4D97-AF65-F5344CB8AC3E}">
        <p14:creationId xmlns:p14="http://schemas.microsoft.com/office/powerpoint/2010/main" val="303844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97B7D1-BE0F-4F94-2DF5-CF0145C5A8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F099D-1D3A-10F4-25B8-8AAF80F06BF2}"/>
              </a:ext>
            </a:extLst>
          </p:cNvPr>
          <p:cNvSpPr txBox="1"/>
          <p:nvPr/>
        </p:nvSpPr>
        <p:spPr>
          <a:xfrm>
            <a:off x="711200" y="63881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GL-260  /  EQUILIBRIUM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C3D19-C6D5-0190-505E-99919D2AE1B0}"/>
              </a:ext>
            </a:extLst>
          </p:cNvPr>
          <p:cNvSpPr txBox="1"/>
          <p:nvPr/>
        </p:nvSpPr>
        <p:spPr>
          <a:xfrm>
            <a:off x="10947400" y="63627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45468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40B365-A418-E5BF-9ED2-61BF5F3F0975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9E83B-AF1F-2D10-C1FB-1B42ED99FAF2}"/>
              </a:ext>
            </a:extLst>
          </p:cNvPr>
          <p:cNvSpPr txBox="1"/>
          <p:nvPr/>
        </p:nvSpPr>
        <p:spPr>
          <a:xfrm>
            <a:off x="711200" y="5334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9EAA"/>
                </a:solidFill>
                <a:latin typeface="Aptos" panose="020B0004020202020204" pitchFamily="34" charset="0"/>
              </a:rPr>
              <a:t>DATA / TREND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224C9B-D9B0-F804-D749-EDA3A43EC0D7}"/>
              </a:ext>
            </a:extLst>
          </p:cNvPr>
          <p:cNvSpPr txBox="1"/>
          <p:nvPr/>
        </p:nvSpPr>
        <p:spPr>
          <a:xfrm>
            <a:off x="711200" y="939800"/>
            <a:ext cx="10033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02638"/>
                </a:solidFill>
                <a:latin typeface="Space Grotesk"/>
              </a:rPr>
              <a:t>Let the trajectory carry the explanation.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B94513-7191-DFF4-C713-AC1664FE296D}"/>
              </a:ext>
            </a:extLst>
          </p:cNvPr>
          <p:cNvCxnSpPr/>
          <p:nvPr/>
        </p:nvCxnSpPr>
        <p:spPr>
          <a:xfrm>
            <a:off x="1016000" y="5054600"/>
            <a:ext cx="7747000" cy="0"/>
          </a:xfrm>
          <a:prstGeom prst="line">
            <a:avLst/>
          </a:prstGeom>
          <a:ln w="12700">
            <a:solidFill>
              <a:srgbClr val="345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ADBA2A-4B79-2986-8CE6-44446FEB7C84}"/>
              </a:ext>
            </a:extLst>
          </p:cNvPr>
          <p:cNvCxnSpPr/>
          <p:nvPr/>
        </p:nvCxnSpPr>
        <p:spPr>
          <a:xfrm>
            <a:off x="1016000" y="2159000"/>
            <a:ext cx="0" cy="2895600"/>
          </a:xfrm>
          <a:prstGeom prst="line">
            <a:avLst/>
          </a:prstGeom>
          <a:ln w="12700">
            <a:solidFill>
              <a:srgbClr val="345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85ECE9-D053-2A3C-6FDD-B4DC87E97D70}"/>
              </a:ext>
            </a:extLst>
          </p:cNvPr>
          <p:cNvCxnSpPr/>
          <p:nvPr/>
        </p:nvCxnSpPr>
        <p:spPr>
          <a:xfrm>
            <a:off x="1143000" y="2641600"/>
            <a:ext cx="1143000" cy="177800"/>
          </a:xfrm>
          <a:prstGeom prst="line">
            <a:avLst/>
          </a:prstGeom>
          <a:ln w="38100">
            <a:solidFill>
              <a:srgbClr val="35D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F0A04C-0736-77FE-C274-2C6EF2476DF3}"/>
              </a:ext>
            </a:extLst>
          </p:cNvPr>
          <p:cNvCxnSpPr/>
          <p:nvPr/>
        </p:nvCxnSpPr>
        <p:spPr>
          <a:xfrm>
            <a:off x="2286000" y="2819400"/>
            <a:ext cx="1143000" cy="279400"/>
          </a:xfrm>
          <a:prstGeom prst="line">
            <a:avLst/>
          </a:prstGeom>
          <a:ln w="38100">
            <a:solidFill>
              <a:srgbClr val="35D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412DE0-C4E1-333C-5A0B-8DBFE8117188}"/>
              </a:ext>
            </a:extLst>
          </p:cNvPr>
          <p:cNvCxnSpPr/>
          <p:nvPr/>
        </p:nvCxnSpPr>
        <p:spPr>
          <a:xfrm>
            <a:off x="3429000" y="3098800"/>
            <a:ext cx="1143000" cy="457200"/>
          </a:xfrm>
          <a:prstGeom prst="line">
            <a:avLst/>
          </a:prstGeom>
          <a:ln w="38100">
            <a:solidFill>
              <a:srgbClr val="35D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F0E209-D63D-F03D-D884-DC3D768C6883}"/>
              </a:ext>
            </a:extLst>
          </p:cNvPr>
          <p:cNvCxnSpPr/>
          <p:nvPr/>
        </p:nvCxnSpPr>
        <p:spPr>
          <a:xfrm>
            <a:off x="4572000" y="3556000"/>
            <a:ext cx="1143000" cy="482600"/>
          </a:xfrm>
          <a:prstGeom prst="line">
            <a:avLst/>
          </a:prstGeom>
          <a:ln w="38100">
            <a:solidFill>
              <a:srgbClr val="35D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4CD871-C363-3FAB-A6C5-66A910306630}"/>
              </a:ext>
            </a:extLst>
          </p:cNvPr>
          <p:cNvCxnSpPr/>
          <p:nvPr/>
        </p:nvCxnSpPr>
        <p:spPr>
          <a:xfrm>
            <a:off x="5715000" y="4038600"/>
            <a:ext cx="1143000" cy="457200"/>
          </a:xfrm>
          <a:prstGeom prst="line">
            <a:avLst/>
          </a:prstGeom>
          <a:ln w="38100">
            <a:solidFill>
              <a:srgbClr val="35D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EBE03A-7011-27F5-4D18-1F504F10A885}"/>
              </a:ext>
            </a:extLst>
          </p:cNvPr>
          <p:cNvCxnSpPr/>
          <p:nvPr/>
        </p:nvCxnSpPr>
        <p:spPr>
          <a:xfrm>
            <a:off x="6858000" y="4495800"/>
            <a:ext cx="1651000" cy="279400"/>
          </a:xfrm>
          <a:prstGeom prst="line">
            <a:avLst/>
          </a:prstGeom>
          <a:ln w="38100">
            <a:solidFill>
              <a:srgbClr val="35D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C763FAF-F198-ED32-E502-F18800BD6780}"/>
              </a:ext>
            </a:extLst>
          </p:cNvPr>
          <p:cNvSpPr/>
          <p:nvPr/>
        </p:nvSpPr>
        <p:spPr>
          <a:xfrm>
            <a:off x="1079500" y="2578100"/>
            <a:ext cx="127000" cy="127000"/>
          </a:xfrm>
          <a:prstGeom prst="ellipse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4AF002C-9288-A675-5E08-C7C4747CB994}"/>
              </a:ext>
            </a:extLst>
          </p:cNvPr>
          <p:cNvSpPr/>
          <p:nvPr/>
        </p:nvSpPr>
        <p:spPr>
          <a:xfrm>
            <a:off x="2222500" y="2755900"/>
            <a:ext cx="127000" cy="127000"/>
          </a:xfrm>
          <a:prstGeom prst="ellipse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7BD30C-A465-AFCF-0507-9966ACEEF6E6}"/>
              </a:ext>
            </a:extLst>
          </p:cNvPr>
          <p:cNvSpPr/>
          <p:nvPr/>
        </p:nvSpPr>
        <p:spPr>
          <a:xfrm>
            <a:off x="3365500" y="3035300"/>
            <a:ext cx="127000" cy="127000"/>
          </a:xfrm>
          <a:prstGeom prst="ellipse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A99359A-E759-C630-8894-7F5C34FB7024}"/>
              </a:ext>
            </a:extLst>
          </p:cNvPr>
          <p:cNvSpPr/>
          <p:nvPr/>
        </p:nvSpPr>
        <p:spPr>
          <a:xfrm>
            <a:off x="4508500" y="3492500"/>
            <a:ext cx="127000" cy="127000"/>
          </a:xfrm>
          <a:prstGeom prst="ellipse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B139E6-0628-FC19-A880-DFB393FD16E3}"/>
              </a:ext>
            </a:extLst>
          </p:cNvPr>
          <p:cNvSpPr/>
          <p:nvPr/>
        </p:nvSpPr>
        <p:spPr>
          <a:xfrm>
            <a:off x="5651500" y="3975100"/>
            <a:ext cx="127000" cy="127000"/>
          </a:xfrm>
          <a:prstGeom prst="ellipse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A7C5E43-1A73-1C98-0A9D-6D46BC5B9513}"/>
              </a:ext>
            </a:extLst>
          </p:cNvPr>
          <p:cNvSpPr/>
          <p:nvPr/>
        </p:nvSpPr>
        <p:spPr>
          <a:xfrm>
            <a:off x="6794500" y="4432300"/>
            <a:ext cx="127000" cy="127000"/>
          </a:xfrm>
          <a:prstGeom prst="ellipse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7161D6C-8110-3FC2-25A7-02294A28BCE5}"/>
              </a:ext>
            </a:extLst>
          </p:cNvPr>
          <p:cNvSpPr/>
          <p:nvPr/>
        </p:nvSpPr>
        <p:spPr>
          <a:xfrm>
            <a:off x="8445500" y="4711700"/>
            <a:ext cx="127000" cy="127000"/>
          </a:xfrm>
          <a:prstGeom prst="ellipse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035BDA-174D-08AB-186B-7C6C7136EDA6}"/>
              </a:ext>
            </a:extLst>
          </p:cNvPr>
          <p:cNvSpPr txBox="1"/>
          <p:nvPr/>
        </p:nvSpPr>
        <p:spPr>
          <a:xfrm>
            <a:off x="736600" y="18796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45468"/>
                </a:solidFill>
                <a:latin typeface="Aptos" panose="020B0004020202020204" pitchFamily="34" charset="0"/>
              </a:rPr>
              <a:t>pH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B4FB89-1968-9755-1284-325D85A0D388}"/>
              </a:ext>
            </a:extLst>
          </p:cNvPr>
          <p:cNvSpPr txBox="1"/>
          <p:nvPr/>
        </p:nvSpPr>
        <p:spPr>
          <a:xfrm>
            <a:off x="3200400" y="53086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45468"/>
                </a:solidFill>
                <a:latin typeface="Aptos" panose="020B0004020202020204" pitchFamily="34" charset="0"/>
              </a:rPr>
              <a:t>CYCLE PROGRESSION →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2A949A-A98A-1F94-0445-1DAC0AA84CE9}"/>
              </a:ext>
            </a:extLst>
          </p:cNvPr>
          <p:cNvCxnSpPr/>
          <p:nvPr/>
        </p:nvCxnSpPr>
        <p:spPr>
          <a:xfrm>
            <a:off x="9423400" y="2057400"/>
            <a:ext cx="0" cy="3200400"/>
          </a:xfrm>
          <a:prstGeom prst="line">
            <a:avLst/>
          </a:prstGeom>
          <a:ln w="12700"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6C58428-FAA2-5AC0-348A-895702A18DEA}"/>
              </a:ext>
            </a:extLst>
          </p:cNvPr>
          <p:cNvSpPr txBox="1"/>
          <p:nvPr/>
        </p:nvSpPr>
        <p:spPr>
          <a:xfrm>
            <a:off x="9855200" y="22098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99221"/>
                </a:solidFill>
                <a:latin typeface="Aptos" panose="020B0004020202020204" pitchFamily="34" charset="0"/>
              </a:rPr>
              <a:t>KEY READING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1F3944-B9E3-99F2-A702-D46E02A2D2D2}"/>
              </a:ext>
            </a:extLst>
          </p:cNvPr>
          <p:cNvSpPr txBox="1"/>
          <p:nvPr/>
        </p:nvSpPr>
        <p:spPr>
          <a:xfrm>
            <a:off x="9855200" y="2743200"/>
            <a:ext cx="1651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02638"/>
                </a:solidFill>
                <a:latin typeface="Space Grotesk"/>
              </a:rPr>
              <a:t>9.34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2337C1-619C-1A75-E9CB-BFFAE7613D8F}"/>
              </a:ext>
            </a:extLst>
          </p:cNvPr>
          <p:cNvSpPr txBox="1"/>
          <p:nvPr/>
        </p:nvSpPr>
        <p:spPr>
          <a:xfrm>
            <a:off x="9855200" y="3378200"/>
            <a:ext cx="165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345468"/>
                </a:solidFill>
                <a:latin typeface="Aptos" panose="020B0004020202020204" pitchFamily="34" charset="0"/>
              </a:rPr>
              <a:t>measured endpoint pH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2D1641-C1D2-50BF-94F1-0A318018F97F}"/>
              </a:ext>
            </a:extLst>
          </p:cNvPr>
          <p:cNvSpPr txBox="1"/>
          <p:nvPr/>
        </p:nvSpPr>
        <p:spPr>
          <a:xfrm>
            <a:off x="9855200" y="4267200"/>
            <a:ext cx="1651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345468"/>
                </a:solidFill>
                <a:latin typeface="Aptos" panose="020B0004020202020204" pitchFamily="34" charset="0"/>
              </a:rPr>
              <a:t>Use one number to orient the audience, then explain the curve.</a:t>
            </a:r>
          </a:p>
        </p:txBody>
      </p:sp>
    </p:spTree>
    <p:extLst>
      <p:ext uri="{BB962C8B-B14F-4D97-AF65-F5344CB8AC3E}">
        <p14:creationId xmlns:p14="http://schemas.microsoft.com/office/powerpoint/2010/main" val="392622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69D0E8-669B-2B32-2A47-1FF6BC1841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83321-71C6-B22E-EB23-535422B70D95}"/>
              </a:ext>
            </a:extLst>
          </p:cNvPr>
          <p:cNvSpPr txBox="1"/>
          <p:nvPr/>
        </p:nvSpPr>
        <p:spPr>
          <a:xfrm>
            <a:off x="711200" y="63881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9EB8CB"/>
                </a:solidFill>
                <a:latin typeface="Aptos" panose="020B0004020202020204" pitchFamily="34" charset="0"/>
              </a:rPr>
              <a:t>GL-260  /  EQUILIBRIUM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A3C62-8A86-4485-54BD-6FAE3B8E0DE3}"/>
              </a:ext>
            </a:extLst>
          </p:cNvPr>
          <p:cNvSpPr txBox="1"/>
          <p:nvPr/>
        </p:nvSpPr>
        <p:spPr>
          <a:xfrm>
            <a:off x="10947400" y="63627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9EB8CB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E4A4F-0335-1410-235C-DE318A72C8C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92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40678-FC78-751E-ABE8-AD04AE122231}"/>
              </a:ext>
            </a:extLst>
          </p:cNvPr>
          <p:cNvSpPr txBox="1"/>
          <p:nvPr/>
        </p:nvSpPr>
        <p:spPr>
          <a:xfrm>
            <a:off x="812800" y="11176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35D0D7"/>
                </a:solidFill>
                <a:latin typeface="Aptos" panose="020B0004020202020204" pitchFamily="34" charset="0"/>
              </a:rPr>
              <a:t>CLOSING THESIS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047B4-5259-C45E-FC40-A5FF8C2B8AE8}"/>
              </a:ext>
            </a:extLst>
          </p:cNvPr>
          <p:cNvSpPr txBox="1"/>
          <p:nvPr/>
        </p:nvSpPr>
        <p:spPr>
          <a:xfrm>
            <a:off x="812800" y="1930400"/>
            <a:ext cx="87630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800" b="1">
                <a:solidFill>
                  <a:srgbClr val="F4FBFF"/>
                </a:solidFill>
                <a:latin typeface="Space Grotesk"/>
              </a:rPr>
              <a:t>Traceable chemistry.
Defensible endpoint.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5341B-0FF6-D061-8FE2-3A9DC8D166DC}"/>
              </a:ext>
            </a:extLst>
          </p:cNvPr>
          <p:cNvSpPr txBox="1"/>
          <p:nvPr/>
        </p:nvSpPr>
        <p:spPr>
          <a:xfrm>
            <a:off x="812800" y="3708400"/>
            <a:ext cx="889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9EB8CB"/>
                </a:solidFill>
                <a:latin typeface="Aptos" panose="020B0004020202020204" pitchFamily="34" charset="0"/>
              </a:rPr>
              <a:t>Every displayed pH should connect back to material balance, equilibrium, activity, and calibration evidence.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FFE590-5A83-1E00-2BA1-9EA6F30D45B3}"/>
              </a:ext>
            </a:extLst>
          </p:cNvPr>
          <p:cNvSpPr/>
          <p:nvPr/>
        </p:nvSpPr>
        <p:spPr>
          <a:xfrm>
            <a:off x="9906000" y="1473200"/>
            <a:ext cx="1016000" cy="1016000"/>
          </a:xfrm>
          <a:prstGeom prst="ellipse">
            <a:avLst/>
          </a:prstGeom>
          <a:solidFill>
            <a:srgbClr val="35D0D7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C42D81-C156-AA07-EDD7-3D9AAEC96C6D}"/>
              </a:ext>
            </a:extLst>
          </p:cNvPr>
          <p:cNvSpPr/>
          <p:nvPr/>
        </p:nvSpPr>
        <p:spPr>
          <a:xfrm>
            <a:off x="10287000" y="1854200"/>
            <a:ext cx="1016000" cy="1016000"/>
          </a:xfrm>
          <a:prstGeom prst="ellipse">
            <a:avLst/>
          </a:prstGeom>
          <a:noFill/>
          <a:ln w="50800" cap="flat" cmpd="sng" algn="ctr">
            <a:solidFill>
              <a:srgbClr val="D9922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E2CF32-3F27-A76B-CF53-7E00C70ED5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41CCE-FB19-2513-89B1-0C1BED10336E}"/>
              </a:ext>
            </a:extLst>
          </p:cNvPr>
          <p:cNvSpPr txBox="1"/>
          <p:nvPr/>
        </p:nvSpPr>
        <p:spPr>
          <a:xfrm>
            <a:off x="711200" y="63881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GL-260  /  EQUILIBRIUM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A9649-AA6E-2A30-5D45-ED4C071BEDD0}"/>
              </a:ext>
            </a:extLst>
          </p:cNvPr>
          <p:cNvSpPr txBox="1"/>
          <p:nvPr/>
        </p:nvSpPr>
        <p:spPr>
          <a:xfrm>
            <a:off x="10947400" y="63627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45468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5C078E-F304-9DA2-4E9B-30E13E86788A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0175F-AC8E-A718-B768-204616C3581C}"/>
              </a:ext>
            </a:extLst>
          </p:cNvPr>
          <p:cNvSpPr txBox="1"/>
          <p:nvPr/>
        </p:nvSpPr>
        <p:spPr>
          <a:xfrm>
            <a:off x="711200" y="5334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9EAA"/>
                </a:solidFill>
                <a:latin typeface="Aptos" panose="020B0004020202020204" pitchFamily="34" charset="0"/>
              </a:rPr>
              <a:t>REACTION EXPLANATION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D66B9-B542-C8F4-5FD8-F879E0CF98B1}"/>
              </a:ext>
            </a:extLst>
          </p:cNvPr>
          <p:cNvSpPr txBox="1"/>
          <p:nvPr/>
        </p:nvSpPr>
        <p:spPr>
          <a:xfrm>
            <a:off x="711200" y="939800"/>
            <a:ext cx="1041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02638"/>
                </a:solidFill>
                <a:latin typeface="Space Grotesk"/>
              </a:rPr>
              <a:t>Lead with the chemistry, then interpret the reaction.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21F89A-F9AE-74E7-31D3-950AA2471AD5}"/>
              </a:ext>
            </a:extLst>
          </p:cNvPr>
          <p:cNvSpPr/>
          <p:nvPr/>
        </p:nvSpPr>
        <p:spPr>
          <a:xfrm>
            <a:off x="965200" y="2006600"/>
            <a:ext cx="10261600" cy="14986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3C8995-F86A-06F4-A72B-961C34A53C71}"/>
              </a:ext>
            </a:extLst>
          </p:cNvPr>
          <p:cNvSpPr txBox="1"/>
          <p:nvPr/>
        </p:nvSpPr>
        <p:spPr>
          <a:xfrm>
            <a:off x="1854200" y="2463800"/>
            <a:ext cx="84836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900" b="1">
                <a:solidFill>
                  <a:srgbClr val="102638"/>
                </a:solidFill>
                <a:latin typeface="Cambria Math" panose="02040503050406030204" pitchFamily="18" charset="0"/>
              </a:rPr>
              <a:t>NaOH + CO₂  →  NaHCO₃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870BA8-50A2-FFED-36E6-00FE1164F575}"/>
              </a:ext>
            </a:extLst>
          </p:cNvPr>
          <p:cNvSpPr txBox="1"/>
          <p:nvPr/>
        </p:nvSpPr>
        <p:spPr>
          <a:xfrm>
            <a:off x="965200" y="40386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99221"/>
                </a:solidFill>
                <a:latin typeface="Aptos" panose="020B0004020202020204" pitchFamily="34" charset="0"/>
              </a:rPr>
              <a:t>REACTION DISCUSSION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CFD77-C2B6-60C3-48E7-938D64C6BB3C}"/>
              </a:ext>
            </a:extLst>
          </p:cNvPr>
          <p:cNvSpPr txBox="1"/>
          <p:nvPr/>
        </p:nvSpPr>
        <p:spPr>
          <a:xfrm>
            <a:off x="965200" y="4419600"/>
            <a:ext cx="10261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345468"/>
                </a:solidFill>
                <a:latin typeface="Aptos" panose="020B0004020202020204" pitchFamily="34" charset="0"/>
              </a:rPr>
              <a:t>Use this lower field to discuss gas transfer, hydration, hydroxide depletion, carbonate conversion, mixing, and endpoint confirmation.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CDB6D4-4340-12DB-9924-3F585FF27496}"/>
              </a:ext>
            </a:extLst>
          </p:cNvPr>
          <p:cNvCxnSpPr/>
          <p:nvPr/>
        </p:nvCxnSpPr>
        <p:spPr>
          <a:xfrm>
            <a:off x="965200" y="5562600"/>
            <a:ext cx="10261600" cy="0"/>
          </a:xfrm>
          <a:prstGeom prst="line">
            <a:avLst/>
          </a:prstGeom>
          <a:ln w="12700"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68FF30F-A8DC-F815-381C-AE10C049EAAF}"/>
              </a:ext>
            </a:extLst>
          </p:cNvPr>
          <p:cNvSpPr txBox="1"/>
          <p:nvPr/>
        </p:nvSpPr>
        <p:spPr>
          <a:xfrm>
            <a:off x="965200" y="5765800"/>
            <a:ext cx="965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345468"/>
                </a:solidFill>
                <a:latin typeface="Aptos" panose="020B0004020202020204" pitchFamily="34" charset="0"/>
              </a:rPr>
              <a:t>Editable template: replace the equation and narrative while preserving the top-anchor hierarchy.</a:t>
            </a:r>
          </a:p>
        </p:txBody>
      </p:sp>
    </p:spTree>
    <p:extLst>
      <p:ext uri="{BB962C8B-B14F-4D97-AF65-F5344CB8AC3E}">
        <p14:creationId xmlns:p14="http://schemas.microsoft.com/office/powerpoint/2010/main" val="3644969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47DBFF-B38B-7AF4-6093-C7DFEEC26D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A3239-5879-73E0-A04A-CEEFE3E1198D}"/>
              </a:ext>
            </a:extLst>
          </p:cNvPr>
          <p:cNvSpPr txBox="1"/>
          <p:nvPr/>
        </p:nvSpPr>
        <p:spPr>
          <a:xfrm>
            <a:off x="711200" y="63881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GL-260  /  EQUILIBRIUM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8786E-F68B-71F0-6A7A-29354AE07C24}"/>
              </a:ext>
            </a:extLst>
          </p:cNvPr>
          <p:cNvSpPr txBox="1"/>
          <p:nvPr/>
        </p:nvSpPr>
        <p:spPr>
          <a:xfrm>
            <a:off x="10947400" y="63627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45468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6D2B08-D3C5-9C0E-BFC3-BBDF3353EF30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66214-2FE5-00EE-06D2-A0E2041AB9F1}"/>
              </a:ext>
            </a:extLst>
          </p:cNvPr>
          <p:cNvSpPr txBox="1"/>
          <p:nvPr/>
        </p:nvSpPr>
        <p:spPr>
          <a:xfrm>
            <a:off x="711200" y="5334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9EAA"/>
                </a:solidFill>
                <a:latin typeface="Aptos" panose="020B0004020202020204" pitchFamily="34" charset="0"/>
              </a:rPr>
              <a:t>PHYSICAL REACTION SETUP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8CC508-6EA6-823F-9C64-AB8CE60EC736}"/>
              </a:ext>
            </a:extLst>
          </p:cNvPr>
          <p:cNvSpPr txBox="1"/>
          <p:nvPr/>
        </p:nvSpPr>
        <p:spPr>
          <a:xfrm>
            <a:off x="711200" y="939800"/>
            <a:ext cx="1041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02638"/>
                </a:solidFill>
                <a:latin typeface="Space Grotesk"/>
              </a:rPr>
              <a:t>All equipment shown as one installation.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AB5C1C-94D2-865F-D4A6-114CEDB577B6}"/>
              </a:ext>
            </a:extLst>
          </p:cNvPr>
          <p:cNvSpPr/>
          <p:nvPr/>
        </p:nvSpPr>
        <p:spPr>
          <a:xfrm>
            <a:off x="5054600" y="2667000"/>
            <a:ext cx="2082800" cy="1727200"/>
          </a:xfrm>
          <a:prstGeom prst="roundRect">
            <a:avLst/>
          </a:prstGeom>
          <a:solidFill>
            <a:srgbClr val="E7F6F8"/>
          </a:solidFill>
          <a:ln w="25400" cap="flat" cmpd="sng" algn="ctr">
            <a:solidFill>
              <a:srgbClr val="35D0D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6017EC-05ED-3DBB-BDF0-E95D6A8720D7}"/>
              </a:ext>
            </a:extLst>
          </p:cNvPr>
          <p:cNvSpPr/>
          <p:nvPr/>
        </p:nvSpPr>
        <p:spPr>
          <a:xfrm>
            <a:off x="5105400" y="2540000"/>
            <a:ext cx="1981200" cy="279400"/>
          </a:xfrm>
          <a:prstGeom prst="ellipse">
            <a:avLst/>
          </a:prstGeom>
          <a:solidFill>
            <a:srgbClr val="E7F6F8"/>
          </a:solidFill>
          <a:ln w="25400" cap="flat" cmpd="sng" algn="ctr">
            <a:solidFill>
              <a:srgbClr val="35D0D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EDE193-93E1-C984-BFB2-D6ECE7321DCD}"/>
              </a:ext>
            </a:extLst>
          </p:cNvPr>
          <p:cNvCxnSpPr/>
          <p:nvPr/>
        </p:nvCxnSpPr>
        <p:spPr>
          <a:xfrm>
            <a:off x="6096000" y="2235200"/>
            <a:ext cx="0" cy="431800"/>
          </a:xfrm>
          <a:prstGeom prst="line">
            <a:avLst/>
          </a:prstGeom>
          <a:ln w="50800">
            <a:solidFill>
              <a:srgbClr val="0D2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92DB39-74F2-CBB0-1364-7C9CAD43B2B5}"/>
              </a:ext>
            </a:extLst>
          </p:cNvPr>
          <p:cNvSpPr txBox="1"/>
          <p:nvPr/>
        </p:nvSpPr>
        <p:spPr>
          <a:xfrm>
            <a:off x="5397500" y="4699000"/>
            <a:ext cx="152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102638"/>
                </a:solidFill>
                <a:latin typeface="Aptos" panose="020B0004020202020204" pitchFamily="34" charset="0"/>
              </a:rPr>
              <a:t>REACTOR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2287764-9B48-B34A-2556-94F5F4408739}"/>
              </a:ext>
            </a:extLst>
          </p:cNvPr>
          <p:cNvCxnSpPr/>
          <p:nvPr/>
        </p:nvCxnSpPr>
        <p:spPr>
          <a:xfrm flipH="1" flipV="1">
            <a:off x="3759200" y="2667000"/>
            <a:ext cx="1295400" cy="482600"/>
          </a:xfrm>
          <a:prstGeom prst="line">
            <a:avLst/>
          </a:prstGeom>
          <a:ln w="19050"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68140F-C7C2-EFD6-6E12-3BF794282B0A}"/>
              </a:ext>
            </a:extLst>
          </p:cNvPr>
          <p:cNvCxnSpPr/>
          <p:nvPr/>
        </p:nvCxnSpPr>
        <p:spPr>
          <a:xfrm flipV="1">
            <a:off x="7137400" y="2667000"/>
            <a:ext cx="1397000" cy="482600"/>
          </a:xfrm>
          <a:prstGeom prst="line">
            <a:avLst/>
          </a:prstGeom>
          <a:ln w="19050"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F74C35-A9FD-352E-BDD3-2EF13BD190D2}"/>
              </a:ext>
            </a:extLst>
          </p:cNvPr>
          <p:cNvCxnSpPr/>
          <p:nvPr/>
        </p:nvCxnSpPr>
        <p:spPr>
          <a:xfrm flipH="1">
            <a:off x="3632200" y="4038600"/>
            <a:ext cx="1422400" cy="787400"/>
          </a:xfrm>
          <a:prstGeom prst="line">
            <a:avLst/>
          </a:prstGeom>
          <a:ln w="19050"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0381A5-1FC9-607E-544F-37D0DA372D0D}"/>
              </a:ext>
            </a:extLst>
          </p:cNvPr>
          <p:cNvCxnSpPr/>
          <p:nvPr/>
        </p:nvCxnSpPr>
        <p:spPr>
          <a:xfrm>
            <a:off x="7137400" y="4038600"/>
            <a:ext cx="1524000" cy="787400"/>
          </a:xfrm>
          <a:prstGeom prst="line">
            <a:avLst/>
          </a:prstGeom>
          <a:ln w="19050"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04B86D-E486-5786-D6C0-32A5F8779173}"/>
              </a:ext>
            </a:extLst>
          </p:cNvPr>
          <p:cNvCxnSpPr/>
          <p:nvPr/>
        </p:nvCxnSpPr>
        <p:spPr>
          <a:xfrm>
            <a:off x="1422400" y="2667000"/>
            <a:ext cx="1676400" cy="0"/>
          </a:xfrm>
          <a:prstGeom prst="line">
            <a:avLst/>
          </a:prstGeom>
          <a:ln w="63500">
            <a:solidFill>
              <a:srgbClr val="0D2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B2B8446-68C0-6ACB-7373-CF0D4D3B1FC7}"/>
              </a:ext>
            </a:extLst>
          </p:cNvPr>
          <p:cNvSpPr/>
          <p:nvPr/>
        </p:nvSpPr>
        <p:spPr>
          <a:xfrm>
            <a:off x="1600200" y="2514600"/>
            <a:ext cx="304800" cy="304800"/>
          </a:xfrm>
          <a:prstGeom prst="ellipse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695360C-0C65-3735-B4B0-AD5A7AA04A8B}"/>
              </a:ext>
            </a:extLst>
          </p:cNvPr>
          <p:cNvSpPr/>
          <p:nvPr/>
        </p:nvSpPr>
        <p:spPr>
          <a:xfrm>
            <a:off x="2159000" y="2514600"/>
            <a:ext cx="304800" cy="304800"/>
          </a:xfrm>
          <a:prstGeom prst="ellipse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297554-BD91-86BD-896B-D239DD65EC63}"/>
              </a:ext>
            </a:extLst>
          </p:cNvPr>
          <p:cNvSpPr/>
          <p:nvPr/>
        </p:nvSpPr>
        <p:spPr>
          <a:xfrm>
            <a:off x="2717800" y="2514600"/>
            <a:ext cx="304800" cy="304800"/>
          </a:xfrm>
          <a:prstGeom prst="ellipse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313FA9-770B-A742-7751-11568EC1C7EF}"/>
              </a:ext>
            </a:extLst>
          </p:cNvPr>
          <p:cNvSpPr txBox="1"/>
          <p:nvPr/>
        </p:nvSpPr>
        <p:spPr>
          <a:xfrm>
            <a:off x="1498600" y="3048000"/>
            <a:ext cx="177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02638"/>
                </a:solidFill>
                <a:latin typeface="Aptos" panose="020B0004020202020204" pitchFamily="34" charset="0"/>
              </a:rPr>
              <a:t>MANIFOLD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1E0092-1E57-E064-A705-5573B9DA8568}"/>
              </a:ext>
            </a:extLst>
          </p:cNvPr>
          <p:cNvSpPr/>
          <p:nvPr/>
        </p:nvSpPr>
        <p:spPr>
          <a:xfrm>
            <a:off x="8991600" y="2133600"/>
            <a:ext cx="1041400" cy="127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5D0D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6ABC302-ED1F-F469-6716-CED2AFA5CFC7}"/>
              </a:ext>
            </a:extLst>
          </p:cNvPr>
          <p:cNvSpPr/>
          <p:nvPr/>
        </p:nvSpPr>
        <p:spPr>
          <a:xfrm>
            <a:off x="9042400" y="2006600"/>
            <a:ext cx="939800" cy="2794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35D0D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BC9D16-D3F0-3CA5-30E0-0C10C42A6BEC}"/>
              </a:ext>
            </a:extLst>
          </p:cNvPr>
          <p:cNvCxnSpPr/>
          <p:nvPr/>
        </p:nvCxnSpPr>
        <p:spPr>
          <a:xfrm>
            <a:off x="9296400" y="1828800"/>
            <a:ext cx="0" cy="1117600"/>
          </a:xfrm>
          <a:prstGeom prst="line">
            <a:avLst/>
          </a:prstGeom>
          <a:ln w="25400">
            <a:solidFill>
              <a:srgbClr val="0D22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D92149E-05D3-F74C-A073-5ADCCBA6D6F1}"/>
              </a:ext>
            </a:extLst>
          </p:cNvPr>
          <p:cNvSpPr txBox="1"/>
          <p:nvPr/>
        </p:nvSpPr>
        <p:spPr>
          <a:xfrm>
            <a:off x="8636000" y="3606800"/>
            <a:ext cx="190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02638"/>
                </a:solidFill>
                <a:latin typeface="Aptos" panose="020B0004020202020204" pitchFamily="34" charset="0"/>
              </a:rPr>
              <a:t>GAS-WASHING
BOTTLE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8A0D2B3-2057-30C1-C6D6-80A2659C8B44}"/>
              </a:ext>
            </a:extLst>
          </p:cNvPr>
          <p:cNvSpPr/>
          <p:nvPr/>
        </p:nvSpPr>
        <p:spPr>
          <a:xfrm>
            <a:off x="1422400" y="4495800"/>
            <a:ext cx="965200" cy="1270000"/>
          </a:xfrm>
          <a:prstGeom prst="roundRect">
            <a:avLst/>
          </a:prstGeom>
          <a:solidFill>
            <a:srgbClr val="E7F6F8"/>
          </a:solidFill>
          <a:ln w="25400" cap="flat" cmpd="sng" algn="ctr">
            <a:solidFill>
              <a:srgbClr val="D9922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0A72D9-3E22-5930-9C1B-0F4991E376A3}"/>
              </a:ext>
            </a:extLst>
          </p:cNvPr>
          <p:cNvSpPr/>
          <p:nvPr/>
        </p:nvSpPr>
        <p:spPr>
          <a:xfrm>
            <a:off x="1473200" y="4368800"/>
            <a:ext cx="863600" cy="279400"/>
          </a:xfrm>
          <a:prstGeom prst="ellipse">
            <a:avLst/>
          </a:prstGeom>
          <a:solidFill>
            <a:srgbClr val="E7F6F8"/>
          </a:solidFill>
          <a:ln w="25400" cap="flat" cmpd="sng" algn="ctr">
            <a:solidFill>
              <a:srgbClr val="D9922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DF7664-9754-AB7B-DE27-847866DC3451}"/>
              </a:ext>
            </a:extLst>
          </p:cNvPr>
          <p:cNvSpPr txBox="1"/>
          <p:nvPr/>
        </p:nvSpPr>
        <p:spPr>
          <a:xfrm>
            <a:off x="1092200" y="5892800"/>
            <a:ext cx="203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02638"/>
                </a:solidFill>
                <a:latin typeface="Aptos" panose="020B0004020202020204" pitchFamily="34" charset="0"/>
              </a:rPr>
              <a:t>RECOVERY
CYLINDER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1241BB0-9D33-9250-23C0-5721E3FB1650}"/>
              </a:ext>
            </a:extLst>
          </p:cNvPr>
          <p:cNvSpPr/>
          <p:nvPr/>
        </p:nvSpPr>
        <p:spPr>
          <a:xfrm>
            <a:off x="9067800" y="4445000"/>
            <a:ext cx="482600" cy="12192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5D0D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8A21E8D-4992-615F-4411-551B84B1F44A}"/>
              </a:ext>
            </a:extLst>
          </p:cNvPr>
          <p:cNvSpPr/>
          <p:nvPr/>
        </p:nvSpPr>
        <p:spPr>
          <a:xfrm>
            <a:off x="9118600" y="4318000"/>
            <a:ext cx="381000" cy="2794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35D0D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D9079D3-EDBE-79FC-CAA5-78C21EE7B48F}"/>
              </a:ext>
            </a:extLst>
          </p:cNvPr>
          <p:cNvSpPr/>
          <p:nvPr/>
        </p:nvSpPr>
        <p:spPr>
          <a:xfrm>
            <a:off x="9753600" y="4381500"/>
            <a:ext cx="482600" cy="12827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5D0D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721C191-DB24-1AF5-20E0-B147073351C5}"/>
              </a:ext>
            </a:extLst>
          </p:cNvPr>
          <p:cNvSpPr/>
          <p:nvPr/>
        </p:nvSpPr>
        <p:spPr>
          <a:xfrm>
            <a:off x="9804400" y="4254500"/>
            <a:ext cx="381000" cy="2794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35D0D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068593D-2E1C-B228-AA98-0AC1DA27141F}"/>
              </a:ext>
            </a:extLst>
          </p:cNvPr>
          <p:cNvSpPr/>
          <p:nvPr/>
        </p:nvSpPr>
        <p:spPr>
          <a:xfrm>
            <a:off x="10439400" y="4318000"/>
            <a:ext cx="482600" cy="13462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35D0D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4288725-EF3C-5ECD-0C02-78411EF32CB0}"/>
              </a:ext>
            </a:extLst>
          </p:cNvPr>
          <p:cNvSpPr/>
          <p:nvPr/>
        </p:nvSpPr>
        <p:spPr>
          <a:xfrm>
            <a:off x="10490200" y="4191000"/>
            <a:ext cx="381000" cy="2794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35D0D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F96EC7-54FF-FCFD-8FC6-7CB2B1AE53AB}"/>
              </a:ext>
            </a:extLst>
          </p:cNvPr>
          <p:cNvSpPr txBox="1"/>
          <p:nvPr/>
        </p:nvSpPr>
        <p:spPr>
          <a:xfrm>
            <a:off x="8940800" y="59182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02638"/>
                </a:solidFill>
                <a:latin typeface="Aptos" panose="020B0004020202020204" pitchFamily="34" charset="0"/>
              </a:rPr>
              <a:t>BULK CYLINDERS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E742FA-AF49-27DE-718F-00FB7428C6C5}"/>
              </a:ext>
            </a:extLst>
          </p:cNvPr>
          <p:cNvSpPr txBox="1"/>
          <p:nvPr/>
        </p:nvSpPr>
        <p:spPr>
          <a:xfrm>
            <a:off x="3810000" y="5689600"/>
            <a:ext cx="469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345468"/>
                </a:solidFill>
                <a:latin typeface="Aptos" panose="020B0004020202020204" pitchFamily="34" charset="0"/>
              </a:rPr>
              <a:t>Connector lines indicate installation relationships—not operating sequence.</a:t>
            </a:r>
          </a:p>
        </p:txBody>
      </p:sp>
    </p:spTree>
    <p:extLst>
      <p:ext uri="{BB962C8B-B14F-4D97-AF65-F5344CB8AC3E}">
        <p14:creationId xmlns:p14="http://schemas.microsoft.com/office/powerpoint/2010/main" val="1486101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8B9FE9-37EF-B87A-3EE9-68F75CC8C0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3B58D-4E92-BB4A-3618-EB6B5E6FB4A1}"/>
              </a:ext>
            </a:extLst>
          </p:cNvPr>
          <p:cNvSpPr txBox="1"/>
          <p:nvPr/>
        </p:nvSpPr>
        <p:spPr>
          <a:xfrm>
            <a:off x="711200" y="63881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GL-260  /  EQUILIBRIUM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F535D-145F-C9CE-6FBC-4F30C128BE16}"/>
              </a:ext>
            </a:extLst>
          </p:cNvPr>
          <p:cNvSpPr txBox="1"/>
          <p:nvPr/>
        </p:nvSpPr>
        <p:spPr>
          <a:xfrm>
            <a:off x="10947400" y="63627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45468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7F8AE5-8667-6F73-BAF3-7C5E897D9EA6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BF3482-0669-0047-5686-09CECF61F891}"/>
              </a:ext>
            </a:extLst>
          </p:cNvPr>
          <p:cNvSpPr txBox="1"/>
          <p:nvPr/>
        </p:nvSpPr>
        <p:spPr>
          <a:xfrm>
            <a:off x="711200" y="5334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9EAA"/>
                </a:solidFill>
                <a:latin typeface="Aptos" panose="020B0004020202020204" pitchFamily="34" charset="0"/>
              </a:rPr>
              <a:t>YIELD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F31278-6F88-099B-B082-1080702903F9}"/>
              </a:ext>
            </a:extLst>
          </p:cNvPr>
          <p:cNvSpPr txBox="1"/>
          <p:nvPr/>
        </p:nvSpPr>
        <p:spPr>
          <a:xfrm>
            <a:off x="711200" y="939800"/>
            <a:ext cx="1041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02638"/>
                </a:solidFill>
                <a:latin typeface="Space Grotesk"/>
              </a:rPr>
              <a:t>Show the result and the loss story together.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E664AE-7753-4479-5EC9-0B24117B73D0}"/>
              </a:ext>
            </a:extLst>
          </p:cNvPr>
          <p:cNvSpPr txBox="1"/>
          <p:nvPr/>
        </p:nvSpPr>
        <p:spPr>
          <a:xfrm>
            <a:off x="711200" y="2082800"/>
            <a:ext cx="3302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600" b="1">
                <a:solidFill>
                  <a:srgbClr val="102638"/>
                </a:solidFill>
                <a:latin typeface="Space Grotesk"/>
              </a:rPr>
              <a:t>92.4%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5C2784-3F9A-67E0-B892-9074AFB99032}"/>
              </a:ext>
            </a:extLst>
          </p:cNvPr>
          <p:cNvSpPr txBox="1"/>
          <p:nvPr/>
        </p:nvSpPr>
        <p:spPr>
          <a:xfrm>
            <a:off x="762000" y="30734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35D0D7"/>
                </a:solidFill>
                <a:latin typeface="Aptos" panose="020B0004020202020204" pitchFamily="34" charset="0"/>
              </a:rPr>
              <a:t>BATCH YIELD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A8A05-4E21-A8E1-D0D5-342F8A42A843}"/>
              </a:ext>
            </a:extLst>
          </p:cNvPr>
          <p:cNvSpPr txBox="1"/>
          <p:nvPr/>
        </p:nvSpPr>
        <p:spPr>
          <a:xfrm>
            <a:off x="762000" y="3479800"/>
            <a:ext cx="330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345468"/>
                </a:solidFill>
                <a:latin typeface="Aptos" panose="020B0004020202020204" pitchFamily="34" charset="0"/>
              </a:rPr>
              <a:t>Actual product ÷ theoretical product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8FA995-4942-3770-6711-598047BD111F}"/>
              </a:ext>
            </a:extLst>
          </p:cNvPr>
          <p:cNvCxnSpPr/>
          <p:nvPr/>
        </p:nvCxnSpPr>
        <p:spPr>
          <a:xfrm>
            <a:off x="4368800" y="1981200"/>
            <a:ext cx="0" cy="3505200"/>
          </a:xfrm>
          <a:prstGeom prst="line">
            <a:avLst/>
          </a:prstGeom>
          <a:ln w="12700"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1FB5C13-B605-E48E-EB06-A7A9FE248A49}"/>
              </a:ext>
            </a:extLst>
          </p:cNvPr>
          <p:cNvSpPr/>
          <p:nvPr/>
        </p:nvSpPr>
        <p:spPr>
          <a:xfrm>
            <a:off x="4927600" y="2489200"/>
            <a:ext cx="914400" cy="2667000"/>
          </a:xfrm>
          <a:prstGeom prst="rect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488B27-C8AF-B195-0C5C-54B16C7D9D88}"/>
              </a:ext>
            </a:extLst>
          </p:cNvPr>
          <p:cNvSpPr txBox="1"/>
          <p:nvPr/>
        </p:nvSpPr>
        <p:spPr>
          <a:xfrm>
            <a:off x="5054600" y="2108200"/>
            <a:ext cx="69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02638"/>
                </a:solidFill>
                <a:latin typeface="Aptos" panose="020B0004020202020204" pitchFamily="34" charset="0"/>
              </a:rPr>
              <a:t>100%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2F7E1-3916-7C61-A17A-BD77A33854DD}"/>
              </a:ext>
            </a:extLst>
          </p:cNvPr>
          <p:cNvSpPr txBox="1"/>
          <p:nvPr/>
        </p:nvSpPr>
        <p:spPr>
          <a:xfrm>
            <a:off x="4826000" y="53848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THEORETICAL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4747A-E2F9-8B4D-0AE4-48B8D8735474}"/>
              </a:ext>
            </a:extLst>
          </p:cNvPr>
          <p:cNvSpPr/>
          <p:nvPr/>
        </p:nvSpPr>
        <p:spPr>
          <a:xfrm>
            <a:off x="6197600" y="2649220"/>
            <a:ext cx="914400" cy="2506980"/>
          </a:xfrm>
          <a:prstGeom prst="rect">
            <a:avLst/>
          </a:prstGeom>
          <a:solidFill>
            <a:srgbClr val="D992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A231FE-8AF5-A837-86F0-CC180868D1BB}"/>
              </a:ext>
            </a:extLst>
          </p:cNvPr>
          <p:cNvSpPr txBox="1"/>
          <p:nvPr/>
        </p:nvSpPr>
        <p:spPr>
          <a:xfrm>
            <a:off x="6324600" y="2268220"/>
            <a:ext cx="69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02638"/>
                </a:solidFill>
                <a:latin typeface="Aptos" panose="020B0004020202020204" pitchFamily="34" charset="0"/>
              </a:rPr>
              <a:t>94%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967103-49AD-E300-4F86-DE863C72F78E}"/>
              </a:ext>
            </a:extLst>
          </p:cNvPr>
          <p:cNvSpPr txBox="1"/>
          <p:nvPr/>
        </p:nvSpPr>
        <p:spPr>
          <a:xfrm>
            <a:off x="6096000" y="53848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TRANSFER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9A6A95-2072-86A7-9C7C-1B66A4DB4F80}"/>
              </a:ext>
            </a:extLst>
          </p:cNvPr>
          <p:cNvSpPr/>
          <p:nvPr/>
        </p:nvSpPr>
        <p:spPr>
          <a:xfrm>
            <a:off x="7467600" y="2755900"/>
            <a:ext cx="914400" cy="2400300"/>
          </a:xfrm>
          <a:prstGeom prst="rect">
            <a:avLst/>
          </a:prstGeom>
          <a:solidFill>
            <a:srgbClr val="D992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CEA6E7-72BA-16B6-82D6-AF40580108D5}"/>
              </a:ext>
            </a:extLst>
          </p:cNvPr>
          <p:cNvSpPr txBox="1"/>
          <p:nvPr/>
        </p:nvSpPr>
        <p:spPr>
          <a:xfrm>
            <a:off x="7594600" y="2374900"/>
            <a:ext cx="69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02638"/>
                </a:solidFill>
                <a:latin typeface="Aptos" panose="020B0004020202020204" pitchFamily="34" charset="0"/>
              </a:rPr>
              <a:t>90%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12A80F-3036-A817-113D-3CB9728603E1}"/>
              </a:ext>
            </a:extLst>
          </p:cNvPr>
          <p:cNvSpPr txBox="1"/>
          <p:nvPr/>
        </p:nvSpPr>
        <p:spPr>
          <a:xfrm>
            <a:off x="7366000" y="53848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REACTION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45951C-370B-14C7-C03E-86CB0E11A475}"/>
              </a:ext>
            </a:extLst>
          </p:cNvPr>
          <p:cNvSpPr/>
          <p:nvPr/>
        </p:nvSpPr>
        <p:spPr>
          <a:xfrm>
            <a:off x="8737600" y="2862580"/>
            <a:ext cx="914400" cy="2293620"/>
          </a:xfrm>
          <a:prstGeom prst="rect">
            <a:avLst/>
          </a:prstGeom>
          <a:solidFill>
            <a:srgbClr val="D992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277FC8-F3B4-A1A6-87DB-C105F6409B29}"/>
              </a:ext>
            </a:extLst>
          </p:cNvPr>
          <p:cNvSpPr txBox="1"/>
          <p:nvPr/>
        </p:nvSpPr>
        <p:spPr>
          <a:xfrm>
            <a:off x="8864600" y="2481580"/>
            <a:ext cx="69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02638"/>
                </a:solidFill>
                <a:latin typeface="Aptos" panose="020B0004020202020204" pitchFamily="34" charset="0"/>
              </a:rPr>
              <a:t>86%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79851F-0E44-1948-1E09-FB60D2B9B07D}"/>
              </a:ext>
            </a:extLst>
          </p:cNvPr>
          <p:cNvSpPr txBox="1"/>
          <p:nvPr/>
        </p:nvSpPr>
        <p:spPr>
          <a:xfrm>
            <a:off x="8636000" y="53848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RECOVERY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8DACDF-95A1-FAF2-9919-B09146B24242}"/>
              </a:ext>
            </a:extLst>
          </p:cNvPr>
          <p:cNvSpPr/>
          <p:nvPr/>
        </p:nvSpPr>
        <p:spPr>
          <a:xfrm>
            <a:off x="10007600" y="2702560"/>
            <a:ext cx="914400" cy="2453640"/>
          </a:xfrm>
          <a:prstGeom prst="rect">
            <a:avLst/>
          </a:prstGeom>
          <a:solidFill>
            <a:srgbClr val="2B9F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CBA01-A2D3-B4E0-DFB6-139824B41D25}"/>
              </a:ext>
            </a:extLst>
          </p:cNvPr>
          <p:cNvSpPr txBox="1"/>
          <p:nvPr/>
        </p:nvSpPr>
        <p:spPr>
          <a:xfrm>
            <a:off x="10134600" y="2321560"/>
            <a:ext cx="698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02638"/>
                </a:solidFill>
                <a:latin typeface="Aptos" panose="020B0004020202020204" pitchFamily="34" charset="0"/>
              </a:rPr>
              <a:t>92%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BF9801-8704-C537-2311-007317B6BEAB}"/>
              </a:ext>
            </a:extLst>
          </p:cNvPr>
          <p:cNvSpPr txBox="1"/>
          <p:nvPr/>
        </p:nvSpPr>
        <p:spPr>
          <a:xfrm>
            <a:off x="9906000" y="5384800"/>
            <a:ext cx="1168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ACTUAL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68828A-9E80-E6BD-B6A1-0ABB703FC8BB}"/>
              </a:ext>
            </a:extLst>
          </p:cNvPr>
          <p:cNvCxnSpPr/>
          <p:nvPr/>
        </p:nvCxnSpPr>
        <p:spPr>
          <a:xfrm>
            <a:off x="4826000" y="5156200"/>
            <a:ext cx="6400800" cy="0"/>
          </a:xfrm>
          <a:prstGeom prst="line">
            <a:avLst/>
          </a:prstGeom>
          <a:ln w="12700">
            <a:solidFill>
              <a:srgbClr val="3454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CAF363C-D968-FA83-A468-67C7FC154997}"/>
              </a:ext>
            </a:extLst>
          </p:cNvPr>
          <p:cNvSpPr txBox="1"/>
          <p:nvPr/>
        </p:nvSpPr>
        <p:spPr>
          <a:xfrm>
            <a:off x="4826000" y="58674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345468"/>
                </a:solidFill>
                <a:latin typeface="Aptos" panose="020B0004020202020204" pitchFamily="34" charset="0"/>
              </a:rPr>
              <a:t>Replace sample values with theoretical mass, actual recovered mass, yield, and known loss categories.</a:t>
            </a:r>
          </a:p>
        </p:txBody>
      </p:sp>
    </p:spTree>
    <p:extLst>
      <p:ext uri="{BB962C8B-B14F-4D97-AF65-F5344CB8AC3E}">
        <p14:creationId xmlns:p14="http://schemas.microsoft.com/office/powerpoint/2010/main" val="8367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019DAC-CC6D-7164-5F3D-E0BA2A8845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8EB6C0-6137-98A9-A542-E4BA11B67552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5D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2C3EB-7066-14F7-CD0E-A7BB3AF30FA8}"/>
              </a:ext>
            </a:extLst>
          </p:cNvPr>
          <p:cNvSpPr txBox="1"/>
          <p:nvPr/>
        </p:nvSpPr>
        <p:spPr>
          <a:xfrm>
            <a:off x="711200" y="5334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159EAA"/>
                </a:solidFill>
                <a:latin typeface="Aptos" panose="020B0004020202020204" pitchFamily="34" charset="0"/>
              </a:rPr>
              <a:t>MULTI-BATCH QC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E3574-E98E-A985-721C-398B757F0C5B}"/>
              </a:ext>
            </a:extLst>
          </p:cNvPr>
          <p:cNvSpPr txBox="1"/>
          <p:nvPr/>
        </p:nvSpPr>
        <p:spPr>
          <a:xfrm>
            <a:off x="711200" y="939800"/>
            <a:ext cx="1041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02638"/>
                </a:solidFill>
                <a:latin typeface="Space Grotesk"/>
              </a:rPr>
              <a:t>Compare release results and identify drift.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AD3DA-F4A5-F405-55E9-46CD6613B182}"/>
              </a:ext>
            </a:extLst>
          </p:cNvPr>
          <p:cNvSpPr txBox="1"/>
          <p:nvPr/>
        </p:nvSpPr>
        <p:spPr>
          <a:xfrm>
            <a:off x="711200" y="6388100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345468"/>
                </a:solidFill>
                <a:latin typeface="Aptos" panose="020B0004020202020204" pitchFamily="34" charset="0"/>
              </a:rPr>
              <a:t>GL-260  /  EQUILIBRIUM WALKTHROUGH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270DC4-9F47-790E-5414-6AF8B057805E}"/>
              </a:ext>
            </a:extLst>
          </p:cNvPr>
          <p:cNvSpPr txBox="1"/>
          <p:nvPr/>
        </p:nvSpPr>
        <p:spPr>
          <a:xfrm>
            <a:off x="10947400" y="63627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345468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34AC9-2D0A-7F6D-B668-6BEA31BD4BFE}"/>
              </a:ext>
            </a:extLst>
          </p:cNvPr>
          <p:cNvSpPr/>
          <p:nvPr/>
        </p:nvSpPr>
        <p:spPr>
          <a:xfrm>
            <a:off x="711200" y="1905000"/>
            <a:ext cx="3048000" cy="584200"/>
          </a:xfrm>
          <a:prstGeom prst="rect">
            <a:avLst/>
          </a:prstGeom>
          <a:solidFill>
            <a:srgbClr val="0D2231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D6023-79BE-1189-C31E-BE10CF6675AE}"/>
              </a:ext>
            </a:extLst>
          </p:cNvPr>
          <p:cNvSpPr txBox="1"/>
          <p:nvPr/>
        </p:nvSpPr>
        <p:spPr>
          <a:xfrm>
            <a:off x="812800" y="2032000"/>
            <a:ext cx="284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F4FBFF"/>
                </a:solidFill>
                <a:latin typeface="Aptos" panose="020B0004020202020204" pitchFamily="34" charset="0"/>
              </a:rPr>
              <a:t>QC METRIC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B567C9-9986-6DE0-C666-1B7FE1EF8333}"/>
              </a:ext>
            </a:extLst>
          </p:cNvPr>
          <p:cNvSpPr/>
          <p:nvPr/>
        </p:nvSpPr>
        <p:spPr>
          <a:xfrm>
            <a:off x="3759200" y="1905000"/>
            <a:ext cx="1778000" cy="584200"/>
          </a:xfrm>
          <a:prstGeom prst="rect">
            <a:avLst/>
          </a:prstGeom>
          <a:solidFill>
            <a:srgbClr val="0D2231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617471-6F7B-2C56-5DAE-FA7CEBED8B39}"/>
              </a:ext>
            </a:extLst>
          </p:cNvPr>
          <p:cNvSpPr txBox="1"/>
          <p:nvPr/>
        </p:nvSpPr>
        <p:spPr>
          <a:xfrm>
            <a:off x="3860800" y="20320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F4FBFF"/>
                </a:solidFill>
                <a:latin typeface="Aptos" panose="020B0004020202020204" pitchFamily="34" charset="0"/>
              </a:rPr>
              <a:t>BATCH 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417C28-315A-F126-F784-E5EC7500EFDD}"/>
              </a:ext>
            </a:extLst>
          </p:cNvPr>
          <p:cNvSpPr/>
          <p:nvPr/>
        </p:nvSpPr>
        <p:spPr>
          <a:xfrm>
            <a:off x="5537200" y="1905000"/>
            <a:ext cx="1778000" cy="584200"/>
          </a:xfrm>
          <a:prstGeom prst="rect">
            <a:avLst/>
          </a:prstGeom>
          <a:solidFill>
            <a:srgbClr val="0D2231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9ADEE0-7AE0-C514-A046-69826A6DA009}"/>
              </a:ext>
            </a:extLst>
          </p:cNvPr>
          <p:cNvSpPr txBox="1"/>
          <p:nvPr/>
        </p:nvSpPr>
        <p:spPr>
          <a:xfrm>
            <a:off x="5638800" y="20320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F4FBFF"/>
                </a:solidFill>
                <a:latin typeface="Aptos" panose="020B0004020202020204" pitchFamily="34" charset="0"/>
              </a:rPr>
              <a:t>BATCH 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CC4168-100A-59E4-0B94-28B5D449FEF5}"/>
              </a:ext>
            </a:extLst>
          </p:cNvPr>
          <p:cNvSpPr/>
          <p:nvPr/>
        </p:nvSpPr>
        <p:spPr>
          <a:xfrm>
            <a:off x="7315200" y="1905000"/>
            <a:ext cx="1778000" cy="584200"/>
          </a:xfrm>
          <a:prstGeom prst="rect">
            <a:avLst/>
          </a:prstGeom>
          <a:solidFill>
            <a:srgbClr val="0D2231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26542F-C445-C24A-E36B-4C63D51B2B7E}"/>
              </a:ext>
            </a:extLst>
          </p:cNvPr>
          <p:cNvSpPr txBox="1"/>
          <p:nvPr/>
        </p:nvSpPr>
        <p:spPr>
          <a:xfrm>
            <a:off x="7416800" y="20320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F4FBFF"/>
                </a:solidFill>
                <a:latin typeface="Aptos" panose="020B0004020202020204" pitchFamily="34" charset="0"/>
              </a:rPr>
              <a:t>BATCH 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F1CC60-3D22-C3F5-13B5-777F7948ABA7}"/>
              </a:ext>
            </a:extLst>
          </p:cNvPr>
          <p:cNvSpPr/>
          <p:nvPr/>
        </p:nvSpPr>
        <p:spPr>
          <a:xfrm>
            <a:off x="711200" y="2489200"/>
            <a:ext cx="304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A2E535-26DC-C9BD-8DB5-E2A7B8AF653F}"/>
              </a:ext>
            </a:extLst>
          </p:cNvPr>
          <p:cNvSpPr txBox="1"/>
          <p:nvPr/>
        </p:nvSpPr>
        <p:spPr>
          <a:xfrm>
            <a:off x="812800" y="2616200"/>
            <a:ext cx="284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102638"/>
                </a:solidFill>
                <a:latin typeface="Aptos" panose="020B0004020202020204" pitchFamily="34" charset="0"/>
              </a:rPr>
              <a:t>Endpoint pH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A34989-C78F-97E5-4C35-58C59B58E8CB}"/>
              </a:ext>
            </a:extLst>
          </p:cNvPr>
          <p:cNvSpPr/>
          <p:nvPr/>
        </p:nvSpPr>
        <p:spPr>
          <a:xfrm>
            <a:off x="3759200" y="2489200"/>
            <a:ext cx="177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2FA59D-9A38-19AD-9F42-1B50D33D6178}"/>
              </a:ext>
            </a:extLst>
          </p:cNvPr>
          <p:cNvSpPr txBox="1"/>
          <p:nvPr/>
        </p:nvSpPr>
        <p:spPr>
          <a:xfrm>
            <a:off x="3860800" y="26162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9.34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7CE439-7816-011A-C094-C4331CCA129C}"/>
              </a:ext>
            </a:extLst>
          </p:cNvPr>
          <p:cNvSpPr/>
          <p:nvPr/>
        </p:nvSpPr>
        <p:spPr>
          <a:xfrm>
            <a:off x="5537200" y="2489200"/>
            <a:ext cx="177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6177E-E229-CB9E-9F9F-7A6F791C9942}"/>
              </a:ext>
            </a:extLst>
          </p:cNvPr>
          <p:cNvSpPr txBox="1"/>
          <p:nvPr/>
        </p:nvSpPr>
        <p:spPr>
          <a:xfrm>
            <a:off x="5638800" y="26162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9.28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5B2216-EE00-76C7-2CC4-C878765C5927}"/>
              </a:ext>
            </a:extLst>
          </p:cNvPr>
          <p:cNvSpPr/>
          <p:nvPr/>
        </p:nvSpPr>
        <p:spPr>
          <a:xfrm>
            <a:off x="7315200" y="2489200"/>
            <a:ext cx="177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BFC5E5-9231-F2EE-E6B2-7CF307D99670}"/>
              </a:ext>
            </a:extLst>
          </p:cNvPr>
          <p:cNvSpPr txBox="1"/>
          <p:nvPr/>
        </p:nvSpPr>
        <p:spPr>
          <a:xfrm>
            <a:off x="7416800" y="26162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9.41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376B7A-4F58-7DBE-15E3-EE76AAB7C6B4}"/>
              </a:ext>
            </a:extLst>
          </p:cNvPr>
          <p:cNvSpPr/>
          <p:nvPr/>
        </p:nvSpPr>
        <p:spPr>
          <a:xfrm>
            <a:off x="711200" y="3073400"/>
            <a:ext cx="3048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0F8132-A8B1-05E6-DBD6-5FB533243CD2}"/>
              </a:ext>
            </a:extLst>
          </p:cNvPr>
          <p:cNvSpPr txBox="1"/>
          <p:nvPr/>
        </p:nvSpPr>
        <p:spPr>
          <a:xfrm>
            <a:off x="812800" y="3200400"/>
            <a:ext cx="284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102638"/>
                </a:solidFill>
                <a:latin typeface="Aptos" panose="020B0004020202020204" pitchFamily="34" charset="0"/>
              </a:rPr>
              <a:t>NaHCO₃ purity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47DDC5-916E-77B3-37AA-7A46E3C8EED5}"/>
              </a:ext>
            </a:extLst>
          </p:cNvPr>
          <p:cNvSpPr/>
          <p:nvPr/>
        </p:nvSpPr>
        <p:spPr>
          <a:xfrm>
            <a:off x="3759200" y="3073400"/>
            <a:ext cx="1778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0FA952-7BD1-14D5-7A78-82FDF3CCE345}"/>
              </a:ext>
            </a:extLst>
          </p:cNvPr>
          <p:cNvSpPr txBox="1"/>
          <p:nvPr/>
        </p:nvSpPr>
        <p:spPr>
          <a:xfrm>
            <a:off x="3860800" y="32004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97.8%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5FFE03-427C-C473-6352-00852AC109BC}"/>
              </a:ext>
            </a:extLst>
          </p:cNvPr>
          <p:cNvSpPr/>
          <p:nvPr/>
        </p:nvSpPr>
        <p:spPr>
          <a:xfrm>
            <a:off x="5537200" y="3073400"/>
            <a:ext cx="1778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021118-DA37-F045-06CA-50B0588DE8B8}"/>
              </a:ext>
            </a:extLst>
          </p:cNvPr>
          <p:cNvSpPr txBox="1"/>
          <p:nvPr/>
        </p:nvSpPr>
        <p:spPr>
          <a:xfrm>
            <a:off x="5638800" y="32004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98.2%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71EDC8-CBEF-F61E-C4F1-FE2EDFEAF764}"/>
              </a:ext>
            </a:extLst>
          </p:cNvPr>
          <p:cNvSpPr/>
          <p:nvPr/>
        </p:nvSpPr>
        <p:spPr>
          <a:xfrm>
            <a:off x="7315200" y="3073400"/>
            <a:ext cx="1778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8D800A-7B55-4E6B-513C-542EFD7F5119}"/>
              </a:ext>
            </a:extLst>
          </p:cNvPr>
          <p:cNvSpPr txBox="1"/>
          <p:nvPr/>
        </p:nvSpPr>
        <p:spPr>
          <a:xfrm>
            <a:off x="7416800" y="32004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97.5%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50B381-9C33-F592-5009-4C5398FE9295}"/>
              </a:ext>
            </a:extLst>
          </p:cNvPr>
          <p:cNvSpPr/>
          <p:nvPr/>
        </p:nvSpPr>
        <p:spPr>
          <a:xfrm>
            <a:off x="711200" y="3657600"/>
            <a:ext cx="304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1CDB59-56EF-8B9D-A141-8998BF46581E}"/>
              </a:ext>
            </a:extLst>
          </p:cNvPr>
          <p:cNvSpPr txBox="1"/>
          <p:nvPr/>
        </p:nvSpPr>
        <p:spPr>
          <a:xfrm>
            <a:off x="812800" y="3784600"/>
            <a:ext cx="284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102638"/>
                </a:solidFill>
                <a:latin typeface="Aptos" panose="020B0004020202020204" pitchFamily="34" charset="0"/>
              </a:rPr>
              <a:t>Carbonate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B69532-5A3F-7047-7E8C-84E1038DC329}"/>
              </a:ext>
            </a:extLst>
          </p:cNvPr>
          <p:cNvSpPr/>
          <p:nvPr/>
        </p:nvSpPr>
        <p:spPr>
          <a:xfrm>
            <a:off x="3759200" y="3657600"/>
            <a:ext cx="177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B9B8FE-8A40-D688-F59D-4CF9347FD26B}"/>
              </a:ext>
            </a:extLst>
          </p:cNvPr>
          <p:cNvSpPr txBox="1"/>
          <p:nvPr/>
        </p:nvSpPr>
        <p:spPr>
          <a:xfrm>
            <a:off x="3860800" y="37846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1.4%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35A4D69-93C4-001D-4B57-81B7D7997EA4}"/>
              </a:ext>
            </a:extLst>
          </p:cNvPr>
          <p:cNvSpPr/>
          <p:nvPr/>
        </p:nvSpPr>
        <p:spPr>
          <a:xfrm>
            <a:off x="5537200" y="3657600"/>
            <a:ext cx="177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C84488-5E7A-2BCA-D1A6-C13F0840FBB5}"/>
              </a:ext>
            </a:extLst>
          </p:cNvPr>
          <p:cNvSpPr txBox="1"/>
          <p:nvPr/>
        </p:nvSpPr>
        <p:spPr>
          <a:xfrm>
            <a:off x="5638800" y="37846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1.1%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55C66D-7F39-237A-EEC3-77ED725A4F8F}"/>
              </a:ext>
            </a:extLst>
          </p:cNvPr>
          <p:cNvSpPr/>
          <p:nvPr/>
        </p:nvSpPr>
        <p:spPr>
          <a:xfrm>
            <a:off x="7315200" y="3657600"/>
            <a:ext cx="177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CA82D5-E2EB-C396-B579-0870AF1AD885}"/>
              </a:ext>
            </a:extLst>
          </p:cNvPr>
          <p:cNvSpPr txBox="1"/>
          <p:nvPr/>
        </p:nvSpPr>
        <p:spPr>
          <a:xfrm>
            <a:off x="7416800" y="37846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1.7%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0D4A19-72F1-000B-E038-9D7DCEDE1B03}"/>
              </a:ext>
            </a:extLst>
          </p:cNvPr>
          <p:cNvSpPr/>
          <p:nvPr/>
        </p:nvSpPr>
        <p:spPr>
          <a:xfrm>
            <a:off x="711200" y="4241800"/>
            <a:ext cx="3048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292475-655E-AF17-0FD5-F0EECA243557}"/>
              </a:ext>
            </a:extLst>
          </p:cNvPr>
          <p:cNvSpPr txBox="1"/>
          <p:nvPr/>
        </p:nvSpPr>
        <p:spPr>
          <a:xfrm>
            <a:off x="812800" y="4368800"/>
            <a:ext cx="284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102638"/>
                </a:solidFill>
                <a:latin typeface="Aptos" panose="020B0004020202020204" pitchFamily="34" charset="0"/>
              </a:rPr>
              <a:t>Moisture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0BF7D48-A5BA-6287-62D7-915CDF71FB36}"/>
              </a:ext>
            </a:extLst>
          </p:cNvPr>
          <p:cNvSpPr/>
          <p:nvPr/>
        </p:nvSpPr>
        <p:spPr>
          <a:xfrm>
            <a:off x="3759200" y="4241800"/>
            <a:ext cx="1778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372A31-7AA0-CC45-3D95-342BCFFC009D}"/>
              </a:ext>
            </a:extLst>
          </p:cNvPr>
          <p:cNvSpPr txBox="1"/>
          <p:nvPr/>
        </p:nvSpPr>
        <p:spPr>
          <a:xfrm>
            <a:off x="3860800" y="43688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0.8%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062A117-7F6A-2BDA-FBC1-CD5324460D67}"/>
              </a:ext>
            </a:extLst>
          </p:cNvPr>
          <p:cNvSpPr/>
          <p:nvPr/>
        </p:nvSpPr>
        <p:spPr>
          <a:xfrm>
            <a:off x="5537200" y="4241800"/>
            <a:ext cx="1778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0FCBB8-0E3F-982E-4B4E-3EE0AB2D5384}"/>
              </a:ext>
            </a:extLst>
          </p:cNvPr>
          <p:cNvSpPr txBox="1"/>
          <p:nvPr/>
        </p:nvSpPr>
        <p:spPr>
          <a:xfrm>
            <a:off x="5638800" y="43688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0.7%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85988C9-E4BD-14E2-4B7D-B6C80DE6B5C4}"/>
              </a:ext>
            </a:extLst>
          </p:cNvPr>
          <p:cNvSpPr/>
          <p:nvPr/>
        </p:nvSpPr>
        <p:spPr>
          <a:xfrm>
            <a:off x="7315200" y="4241800"/>
            <a:ext cx="1778000" cy="5842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671417-35B2-7185-9389-682D2FB65DE6}"/>
              </a:ext>
            </a:extLst>
          </p:cNvPr>
          <p:cNvSpPr txBox="1"/>
          <p:nvPr/>
        </p:nvSpPr>
        <p:spPr>
          <a:xfrm>
            <a:off x="7416800" y="43688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45468"/>
                </a:solidFill>
                <a:latin typeface="Aptos" panose="020B0004020202020204" pitchFamily="34" charset="0"/>
              </a:rPr>
              <a:t>0.8%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A931CF-F757-1C2E-C28B-064400BC962B}"/>
              </a:ext>
            </a:extLst>
          </p:cNvPr>
          <p:cNvSpPr/>
          <p:nvPr/>
        </p:nvSpPr>
        <p:spPr>
          <a:xfrm>
            <a:off x="711200" y="4826000"/>
            <a:ext cx="304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11434E-A861-468C-2FE0-D9B2F87FBCC4}"/>
              </a:ext>
            </a:extLst>
          </p:cNvPr>
          <p:cNvSpPr txBox="1"/>
          <p:nvPr/>
        </p:nvSpPr>
        <p:spPr>
          <a:xfrm>
            <a:off x="812800" y="4953000"/>
            <a:ext cx="284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102638"/>
                </a:solidFill>
                <a:latin typeface="Aptos" panose="020B0004020202020204" pitchFamily="34" charset="0"/>
              </a:rPr>
              <a:t>Yield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DAB013C-EA4D-A5FC-B2B4-1AB9F2364689}"/>
              </a:ext>
            </a:extLst>
          </p:cNvPr>
          <p:cNvSpPr/>
          <p:nvPr/>
        </p:nvSpPr>
        <p:spPr>
          <a:xfrm>
            <a:off x="3759200" y="4826000"/>
            <a:ext cx="177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4559DA-FB61-E0B0-0D45-732DFB8994B6}"/>
              </a:ext>
            </a:extLst>
          </p:cNvPr>
          <p:cNvSpPr txBox="1"/>
          <p:nvPr/>
        </p:nvSpPr>
        <p:spPr>
          <a:xfrm>
            <a:off x="3860800" y="49530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2B9F69"/>
                </a:solidFill>
                <a:latin typeface="Aptos" panose="020B0004020202020204" pitchFamily="34" charset="0"/>
              </a:rPr>
              <a:t>92.4%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CE2C8CF-9D44-58B2-0571-CE2B5DF6E91F}"/>
              </a:ext>
            </a:extLst>
          </p:cNvPr>
          <p:cNvSpPr/>
          <p:nvPr/>
        </p:nvSpPr>
        <p:spPr>
          <a:xfrm>
            <a:off x="5537200" y="4826000"/>
            <a:ext cx="177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BE5E41-6081-226A-1551-3178221FC792}"/>
              </a:ext>
            </a:extLst>
          </p:cNvPr>
          <p:cNvSpPr txBox="1"/>
          <p:nvPr/>
        </p:nvSpPr>
        <p:spPr>
          <a:xfrm>
            <a:off x="5638800" y="49530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2B9F69"/>
                </a:solidFill>
                <a:latin typeface="Aptos" panose="020B0004020202020204" pitchFamily="34" charset="0"/>
              </a:rPr>
              <a:t>95.1%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4295EBF-4072-FEDA-5A00-541D57C4437A}"/>
              </a:ext>
            </a:extLst>
          </p:cNvPr>
          <p:cNvSpPr/>
          <p:nvPr/>
        </p:nvSpPr>
        <p:spPr>
          <a:xfrm>
            <a:off x="7315200" y="4826000"/>
            <a:ext cx="1778000" cy="584200"/>
          </a:xfrm>
          <a:prstGeom prst="rect">
            <a:avLst/>
          </a:prstGeom>
          <a:solidFill>
            <a:srgbClr val="EEF7FA"/>
          </a:solidFill>
          <a:ln w="19050" cap="flat" cmpd="sng" algn="ctr">
            <a:solidFill>
              <a:srgbClr val="CFE3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4C9825-32B2-1A3A-3B95-29DFB637FD36}"/>
              </a:ext>
            </a:extLst>
          </p:cNvPr>
          <p:cNvSpPr txBox="1"/>
          <p:nvPr/>
        </p:nvSpPr>
        <p:spPr>
          <a:xfrm>
            <a:off x="7416800" y="4953000"/>
            <a:ext cx="1574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2B9F69"/>
                </a:solidFill>
                <a:latin typeface="Aptos" panose="020B0004020202020204" pitchFamily="34" charset="0"/>
              </a:rPr>
              <a:t>90.8%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D07ECC-1A1B-A1EE-AD93-7F351DBB3FE1}"/>
              </a:ext>
            </a:extLst>
          </p:cNvPr>
          <p:cNvSpPr txBox="1"/>
          <p:nvPr/>
        </p:nvSpPr>
        <p:spPr>
          <a:xfrm>
            <a:off x="711200" y="5740400"/>
            <a:ext cx="571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345468"/>
                </a:solidFill>
                <a:latin typeface="Aptos" panose="020B0004020202020204" pitchFamily="34" charset="0"/>
              </a:rPr>
              <a:t>Sample values — replace with released QC results.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32F963D-9B0A-0279-7C15-EDD94BB7B87D}"/>
              </a:ext>
            </a:extLst>
          </p:cNvPr>
          <p:cNvCxnSpPr/>
          <p:nvPr/>
        </p:nvCxnSpPr>
        <p:spPr>
          <a:xfrm>
            <a:off x="9474200" y="1905000"/>
            <a:ext cx="0" cy="3581400"/>
          </a:xfrm>
          <a:prstGeom prst="line">
            <a:avLst/>
          </a:prstGeom>
          <a:ln>
            <a:solidFill>
              <a:srgbClr val="C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AF3095D-D010-55F6-ABB1-2F75D6F10258}"/>
              </a:ext>
            </a:extLst>
          </p:cNvPr>
          <p:cNvSpPr txBox="1"/>
          <p:nvPr/>
        </p:nvSpPr>
        <p:spPr>
          <a:xfrm>
            <a:off x="9880600" y="20574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D99221"/>
                </a:solidFill>
                <a:latin typeface="Aptos" panose="020B0004020202020204" pitchFamily="34" charset="0"/>
              </a:rPr>
              <a:t>QC STORY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1A959E-5BD0-40C0-6B57-556299FD951E}"/>
              </a:ext>
            </a:extLst>
          </p:cNvPr>
          <p:cNvSpPr txBox="1"/>
          <p:nvPr/>
        </p:nvSpPr>
        <p:spPr>
          <a:xfrm>
            <a:off x="9880600" y="2565400"/>
            <a:ext cx="16510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345468"/>
                </a:solidFill>
                <a:latin typeface="Aptos" panose="020B0004020202020204" pitchFamily="34" charset="0"/>
              </a:rPr>
              <a:t>Call out the specification, strongest batch, outlier, and any cross-batch drift.</a:t>
            </a:r>
          </a:p>
        </p:txBody>
      </p:sp>
    </p:spTree>
    <p:extLst>
      <p:ext uri="{BB962C8B-B14F-4D97-AF65-F5344CB8AC3E}">
        <p14:creationId xmlns:p14="http://schemas.microsoft.com/office/powerpoint/2010/main" val="192387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Moheban, M.S.</dc:creator>
  <cp:lastModifiedBy>Michael Moheban, M.S.</cp:lastModifiedBy>
  <cp:revision>3</cp:revision>
  <dcterms:created xsi:type="dcterms:W3CDTF">2026-06-22T13:45:45Z</dcterms:created>
  <dcterms:modified xsi:type="dcterms:W3CDTF">2026-06-22T14:09:26Z</dcterms:modified>
</cp:coreProperties>
</file>